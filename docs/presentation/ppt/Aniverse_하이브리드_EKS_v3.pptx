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10972800" cy="365760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42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Aniverse</a:t>
            </a:r>
          </a:p>
          <a:p>
            <a:pPr>
              <a:spcBef>
                <a:spcPts val="1400"/>
              </a:spcBef>
            </a:pPr>
            <a:r>
              <a:rPr sz="2400" b="0">
                <a:solidFill>
                  <a:srgbClr val="BFDBFE"/>
                </a:solidFill>
                <a:latin typeface="맑은 고딕"/>
                <a:ea typeface="맑은 고딕"/>
                <a:cs typeface="맑은 고딕"/>
              </a:rPr>
              <a:t>프로젝트 소개 + EKS · GitOps 전환</a:t>
            </a:r>
          </a:p>
          <a:p>
            <a:pPr>
              <a:spcBef>
                <a:spcPts val="1400"/>
              </a:spcBef>
            </a:pPr>
            <a:r>
              <a:rPr sz="15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EC2 / CodeDeploy → EKS / Argo CD · DB Pod · 관측</a:t>
            </a:r>
          </a:p>
          <a:p>
            <a:pPr>
              <a:spcBef>
                <a:spcPts val="1800"/>
              </a:spcBef>
            </a:pPr>
            <a:r>
              <a:rPr sz="1400" b="0">
                <a:solidFill>
                  <a:srgbClr val="7DD3FC"/>
                </a:solidFill>
                <a:latin typeface="맑은 고딕"/>
                <a:ea typeface="맑은 고딕"/>
                <a:cs typeface="맑은 고딕"/>
              </a:rPr>
              <a:t>https://aniverse.my</a:t>
            </a:r>
          </a:p>
          <a:p>
            <a:pPr>
              <a:spcBef>
                <a:spcPts val="2000"/>
              </a:spcBef>
            </a:pPr>
            <a:r>
              <a:rPr sz="1200" b="0">
                <a:solidFill>
                  <a:srgbClr val="94A3B8"/>
                </a:solidFill>
                <a:latin typeface="맑은 고딕"/>
                <a:ea typeface="맑은 고딕"/>
                <a:cs typeface="맑은 고딕"/>
              </a:rPr>
              <a:t>발표 5~7분 · 하이브리드 구성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목차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프로젝트 소개 → EKS 전환 → 데이터·관측 → 트러블 → 교훈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960120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01  서비스 · 팀 역할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673352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02  아키텍처 v1 · v2 · 왜 EKS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386584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03  랩 → EKS 경로 · 워크로드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3099816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04  GitOps · 데이터 백업/복구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813048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05  관측 (Prom / Grafana / Loki)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526280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06  전환 이슈 · 계정 Block / 이관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5239512"/>
            <a:ext cx="10881360" cy="621792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07  Before/After · 다음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Aniverse — 무엇을 만들었나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서브컬처 커뮤니티 · 거래 · 창작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3611880" cy="47548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서비스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장터(굿즈) · 창작 마당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커뮤니티 · 회원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https://aniverse.my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51960" y="1097280"/>
            <a:ext cx="3611880" cy="47548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인프라 목표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재현 가능한 배포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비용 통제 (start/stop)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문서·트러블슈팅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046720" y="1097280"/>
            <a:ext cx="3611880" cy="475488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이번 발표 포인트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프로젝트 전체 구조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EKS·GitOps 전환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Pod · 관측 · 이관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1. 팀 역할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윤주=컨테이너·DB·관측 / 현우=Actions·Argo / 네트워크·컴퓨트</a:t>
            </a:r>
          </a:p>
        </p:txBody>
      </p:sp>
      <p:pic>
        <p:nvPicPr>
          <p:cNvPr id="4" name="Picture 3" descr="hybrid_00_ro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아키텍처 v1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User → Route53/WAF → ALB → ASG/EC2 → RDS · EFS · S3 (VPC 구성)</a:t>
            </a:r>
          </a:p>
        </p:txBody>
      </p:sp>
      <p:pic>
        <p:nvPicPr>
          <p:cNvPr id="4" name="Picture 3" descr="hybrid_01_arch_v1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아키텍처 v2 — EKS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Ingress/ALB · EKS Pod · DB StatefulSet · ECR · Argo · S3</a:t>
            </a:r>
          </a:p>
        </p:txBody>
      </p:sp>
      <p:pic>
        <p:nvPicPr>
          <p:cNvPr id="4" name="Picture 3" descr="hybrid_02_arch_v2_v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2. 왜 EKS · DB Pod 인가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멘토링·비용·동작 확인 우선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5156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배포·재현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이미지 + GitOps로 동일 환경 재현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4028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스케일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노드 스케일 + 파드 HPA를 분리해 설계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42900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DB Pod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RDS 상시 비용 대신 StatefulSet+PVC (학습/2차)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617720"/>
            <a:ext cx="11064240" cy="105156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6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원칙</a:t>
            </a:r>
          </a:p>
          <a:p>
            <a:pPr>
              <a:spcBef>
                <a:spcPts val="8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아키텍처 확정 → 동작 확인 → 관측·보안 고도화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랩 → EKS 전환 경로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Compose → Lab K8s(Helm) → EKS + Argo</a:t>
            </a:r>
          </a:p>
        </p:txBody>
      </p:sp>
      <p:pic>
        <p:nvPicPr>
          <p:cNvPr id="4" name="Picture 3" descr="hybrid_03_migration_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7/17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3. 앱 · DB 워크로드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윤주: Docker · Helm · StatefulSet — EKS에서 web/db 1/1</a:t>
            </a:r>
          </a:p>
        </p:txBody>
      </p:sp>
      <p:pic>
        <p:nvPicPr>
          <p:cNvPr id="4" name="Picture 3" descr="hybrid_04_workloa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7/17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GitOps · CI/CD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Actions → ECR(sha-*) → values bump → Argo sync · OIDC</a:t>
            </a:r>
          </a:p>
        </p:txBody>
      </p:sp>
      <p:pic>
        <p:nvPicPr>
          <p:cNvPr id="4" name="Picture 3" descr="hybrid_05_gito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7/17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4. 데이터 — 백업 · 복구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윤주: restore Job · CronJob → S3 db-backups/ · media는 S3 sync</a:t>
            </a:r>
          </a:p>
        </p:txBody>
      </p:sp>
      <p:pic>
        <p:nvPicPr>
          <p:cNvPr id="4" name="Picture 3" descr="hybrid_06_da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7/17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관측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완료: Prom+Grafana · Loki/Alloy 구성 — 예정: AlertManager · Tempo/OTel</a:t>
            </a:r>
          </a:p>
        </p:txBody>
      </p:sp>
      <p:pic>
        <p:nvPicPr>
          <p:cNvPr id="4" name="Picture 3" descr="hybrid_07_observ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7/17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5. 운영 포인트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HTTPS · DNS · 비용 start/stop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HTTPS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ACM ISSUED 후 Ingress ALB · Route53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비용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EKS start/stop — 미사용 시 노드·NAT 절감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47472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보안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장기 Access Key 금지 · GitHub OIDC · Pod S3 IRSA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3474720"/>
            <a:ext cx="5532120" cy="214884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검증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health 200 + 시드/목록 UI (Actions 초록만으로 끝내지 않음)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7/17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전환 이슈 — 기술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같은 Missing이라도 원인이 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51560"/>
            <a:ext cx="5577840" cy="49377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EA580C"/>
                </a:solidFill>
                <a:latin typeface="맑은 고딕"/>
                <a:ea typeface="맑은 고딕"/>
                <a:cs typeface="맑은 고딕"/>
              </a:rPr>
              <a:t>A. Job sync-wave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Ingress가 ALB ADDRESS 전 Progressing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다음 wave Job이 영구 Missing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조치: Job에 높은 wave 금지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ready는 Job 내부 ping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51560"/>
            <a:ext cx="5577840" cy="493776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B. ServerSideApply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terminatingReplicas ComparisonError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live SSA 잔존 시 재발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조치: SSA 제거 · client-side apply</a:t>
            </a:r>
          </a:p>
          <a:p>
            <a:pPr>
              <a:spcBef>
                <a:spcPts val="1000"/>
              </a:spcBef>
            </a:pPr>
            <a:r>
              <a:rPr sz="13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install 후 syncOptions strip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7/17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6. 계정 Block → 이관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표면은 start 실패 · 근본은 키 유출</a:t>
            </a:r>
          </a:p>
        </p:txBody>
      </p:sp>
      <p:pic>
        <p:nvPicPr>
          <p:cNvPr id="4" name="Picture 3" descr="hybrid_08_acco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960" y="868680"/>
            <a:ext cx="9753600" cy="5486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7/17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7. Before / After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v1 EC2 운영 → v2 EKS GitOps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097280"/>
            <a:ext cx="557784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4755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Before (v1)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EC2 + CodeDeploy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RDS MariaDB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수동·에이전트 배포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환경 재현 어려움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72200" y="1097280"/>
            <a:ext cx="5577840" cy="4846320"/>
          </a:xfrm>
          <a:prstGeom prst="roundRect">
            <a:avLst/>
          </a:prstGeom>
          <a:solidFill>
            <a:srgbClr val="EFF6FF"/>
          </a:solidFill>
          <a:ln w="15875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16A34A"/>
                </a:solidFill>
                <a:latin typeface="맑은 고딕"/>
                <a:ea typeface="맑은 고딕"/>
                <a:cs typeface="맑은 고딕"/>
              </a:rPr>
              <a:t>After (v2)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EKS + Argo CD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DB Pod + PVC · SQL/CronJob 백업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Actions → ECR → GitOps</a:t>
            </a:r>
          </a:p>
          <a:p>
            <a:pPr>
              <a:spcBef>
                <a:spcPts val="12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Prom/Grafana · Loki 관측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7/17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594360"/>
          </a:xfrm>
          <a:prstGeom prst="rect">
            <a:avLst/>
          </a:prstGeom>
          <a:noFill/>
        </p:spPr>
        <p:txBody>
          <a:bodyPr wrap="square" tIns="54864" bIns="54864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맑은 고딕"/>
                <a:ea typeface="맑은 고딕"/>
                <a:cs typeface="맑은 고딕"/>
              </a:rPr>
              <a:t>7. 배운 점 · 다음</a:t>
            </a:r>
          </a:p>
          <a:p>
            <a:pPr>
              <a:spcBef>
                <a:spcPts val="100"/>
              </a:spcBef>
            </a:pPr>
            <a:r>
              <a:rPr sz="1100" b="0">
                <a:solidFill>
                  <a:srgbClr val="93C5FD"/>
                </a:solidFill>
                <a:latin typeface="맑은 고딕"/>
                <a:ea typeface="맑은 고딕"/>
                <a:cs typeface="맑은 고딕"/>
              </a:rPr>
              <a:t>하이브리드 발표 마무리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53212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2563EB"/>
                </a:solidFill>
                <a:latin typeface="맑은 고딕"/>
                <a:ea typeface="맑은 고딕"/>
                <a:cs typeface="맑은 고딕"/>
              </a:rPr>
              <a:t>배운 점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아키텍처 확정 후 동작 확인이 1순위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장기 키 금지 → OIDC · 이관 시 ARN 전수 교체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Actions 초록 ≠ 시드/목록 검증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097280"/>
            <a:ext cx="5532120" cy="4846320"/>
          </a:xfrm>
          <a:prstGeom prst="roundRect">
            <a:avLst/>
          </a:prstGeom>
          <a:solidFill>
            <a:srgbClr val="F8FAFC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54864" bIns="54864"/>
          <a:lstStyle/>
          <a:p>
            <a:pPr algn="ctr"/>
            <a:r>
              <a:rPr sz="1800" b="1">
                <a:solidFill>
                  <a:srgbClr val="0D9488"/>
                </a:solidFill>
                <a:latin typeface="맑은 고딕"/>
                <a:ea typeface="맑은 고딕"/>
                <a:cs typeface="맑은 고딕"/>
              </a:rPr>
              <a:t>다음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Loki/Alloy EKS 반영 · AlertManager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Tempo + Django OpenTelemetry</a:t>
            </a:r>
          </a:p>
          <a:p>
            <a:pPr>
              <a:spcBef>
                <a:spcPts val="1400"/>
              </a:spcBef>
            </a:pPr>
            <a:r>
              <a:rPr sz="1400" b="0">
                <a:solidFill>
                  <a:srgbClr val="0F172A"/>
                </a:solidFill>
                <a:latin typeface="맑은 고딕"/>
                <a:ea typeface="맑은 고딕"/>
                <a:cs typeface="맑은 고딕"/>
              </a:rPr>
              <a:t>· OIDC 권한 축소 · Budgets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46520"/>
            <a:ext cx="114300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475569"/>
                </a:solidFill>
                <a:latin typeface="맑은 고딕"/>
                <a:ea typeface="맑은 고딕"/>
                <a:cs typeface="맑은 고딕"/>
              </a:rPr>
              <a:t>Aniverse · 프로젝트 + EKS 전환   |   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