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698480" cy="292608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 algn="ctr">
              <a:spcBef>
                <a:spcPts val="1800"/>
              </a:spcBef>
            </a:pPr>
            <a:r>
              <a:rPr sz="2200" b="0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프로젝트 개요  ·  EKS  ·  GitOps 전환</a:t>
            </a:r>
          </a:p>
          <a:p>
            <a:pPr algn="ctr">
              <a:spcBef>
                <a:spcPts val="1400"/>
              </a:spcBef>
            </a:pPr>
            <a:r>
              <a:rPr sz="1800" b="0">
                <a:solidFill>
                  <a:srgbClr val="BAE6FD"/>
                </a:solidFill>
                <a:latin typeface="맑은 고딕"/>
                <a:ea typeface="맑은 고딕"/>
                <a:cs typeface="맑은 고딕"/>
              </a:rPr>
              <a:t>통합 서브컬처 커뮤니티 사이트</a:t>
            </a:r>
          </a:p>
          <a:p>
            <a:pPr algn="ctr">
              <a:spcBef>
                <a:spcPts val="2200"/>
              </a:spcBef>
            </a:pPr>
            <a:r>
              <a:rPr sz="14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https://aniverse.my   ·   발표 5~7분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프로젝트 개요 → 아키텍처 · EKS 전환 → 관측 · 트러블 → 교훈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01    프로젝트 개요 · 팀 역할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48256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02    아키텍처 v1 · v2 · 왜 EKS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24912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03    랩 → EKS 경로 · 워크로드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01568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04    GitOps · 데이터 백업/복구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078224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05    관측 (Prom / Grafana / Loki)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80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06    전환 이슈 · 계정 Block / 이관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431536"/>
            <a:ext cx="11155680" cy="603504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l"/>
            <a:r>
              <a:rPr sz="20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07    Before / After · 다음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5" name="TextBox 14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1. 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— 통합 서브컬처 사이트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2344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  <a:p>
            <a:pPr>
              <a:spcBef>
                <a:spcPts val="10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애니·굿즈·창작·커뮤니티를 한곳에서 쓰는 통합 서브컬처 사이트를 만드는 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제공하는 것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장터(굿즈 거래)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창작 마당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커뮤니티 · 회원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https://aniverse.my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왜 만들었나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흩어진 서브컬처를 한 플랫폼으로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웹 + 클라우드 인프라 실습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배포·운영까지 한 사이클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880360"/>
            <a:ext cx="361188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18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이 발표에서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아키텍처 v1 → v2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EKS · GitOps 전환</a:t>
            </a:r>
          </a:p>
          <a:p>
            <a:pPr>
              <a:spcBef>
                <a:spcPts val="1000"/>
              </a:spcBef>
            </a:pPr>
            <a:r>
              <a:rPr sz="15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데이터·관측 · 트러블슈팅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윤주=컨테이너·DB·관측  /  현우=Actions·Argo  /  네트워크·컴퓨트</a:t>
            </a:r>
          </a:p>
        </p:txBody>
      </p:sp>
      <p:pic>
        <p:nvPicPr>
          <p:cNvPr id="6" name="Picture 5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</a:t>
            </a:r>
          </a:p>
        </p:txBody>
      </p:sp>
      <p:pic>
        <p:nvPicPr>
          <p:cNvPr id="6" name="Picture 5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6" name="Picture 5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멘토링 · 비용 · 동작 확인 우선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배포 · 재현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560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RDS 상시 비용 대신 StatefulSet + PVC (학습/2차)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46320"/>
            <a:ext cx="11155680" cy="100584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0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6" name="Picture 5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윤주: Docker · Helm · StatefulSet — EKS web/db 1/1</a:t>
            </a:r>
          </a:p>
        </p:txBody>
      </p:sp>
      <p:pic>
        <p:nvPicPr>
          <p:cNvPr id="6" name="Picture 5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6" name="Picture 5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restore Job · CronJob → S3  ·  media는 S3 sync</a:t>
            </a:r>
          </a:p>
        </p:txBody>
      </p:sp>
      <p:pic>
        <p:nvPicPr>
          <p:cNvPr id="6" name="Picture 5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완료: Prom+Grafana · Loki/Alloy  —  예정: AlertManager · Tempo/OTel</a:t>
            </a:r>
          </a:p>
        </p:txBody>
      </p:sp>
      <p:pic>
        <p:nvPicPr>
          <p:cNvPr id="6" name="Picture 5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49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40"/>
            <a:ext cx="548640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6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2" name="TextBox 11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Ingress가 ALB ADDRESS 전 Progressing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다음 wave Job이 영구 Missing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조치: Job에 높은 wave 금지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DB ready는 Job 내부 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2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terminatingReplicas ComparisonError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live SSA 잔존 시 재발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조치: SSA 제거 · client-side apply</a:t>
            </a:r>
          </a:p>
          <a:p>
            <a:pPr>
              <a:spcBef>
                <a:spcPts val="1400"/>
              </a:spcBef>
            </a:pPr>
            <a:r>
              <a:rPr sz="16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install 후 syncOptions strip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6" name="Picture 5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4167" y="1325880"/>
            <a:ext cx="9103360" cy="5120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406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EC2 + CodeDeploy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RDS MariaDB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수동·에이전트 배포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환경 재현 어려움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40680" cy="4754880"/>
          </a:xfrm>
          <a:prstGeom prst="roundRect">
            <a:avLst/>
          </a:prstGeom>
          <a:solidFill>
            <a:srgbClr val="ECF8FF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EKS + Argo CD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DB Pod + PVC · SQL/CronJob 백업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Actions → ECR → GitOps</a:t>
            </a:r>
          </a:p>
          <a:p>
            <a:pPr>
              <a:spcBef>
                <a:spcPts val="1800"/>
              </a:spcBef>
            </a:pPr>
            <a:r>
              <a:rPr sz="18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Prom/Grafana · Loki 관측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3200" b="1">
                <a:solidFill>
                  <a:srgbClr val="0A1128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04672"/>
            <a:ext cx="1234440" cy="54864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55680" cy="347472"/>
          </a:xfrm>
          <a:prstGeom prst="rect">
            <a:avLst/>
          </a:prstGeom>
          <a:noFill/>
        </p:spPr>
        <p:txBody>
          <a:bodyPr wrap="square" lIns="128016" rIns="128016" tIns="91440" bIns="91440">
            <a:spAutoFit/>
          </a:bodyPr>
          <a:lstStyle/>
          <a:p>
            <a:r>
              <a:rPr sz="16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아키텍처 확정 후 동작 확인이 1순위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장기 키 금지 → OIDC · 이관 시 ARN 전수 교체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Actions 초록 ≠ 시드/목록 검증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 bIns="91440"/>
          <a:lstStyle/>
          <a:p>
            <a:pPr algn="ctr"/>
            <a:r>
              <a:rPr sz="24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Loki/Alloy EKS 반영 · AlertManager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Tempo + Django OpenTelemetry</a:t>
            </a:r>
          </a:p>
          <a:p>
            <a:pPr>
              <a:spcBef>
                <a:spcPts val="1800"/>
              </a:spcBef>
            </a:pPr>
            <a:r>
              <a:rPr sz="1700" b="0">
                <a:solidFill>
                  <a:srgbClr val="1E293B"/>
                </a:solidFill>
                <a:latin typeface="맑은 고딕"/>
                <a:ea typeface="맑은 고딕"/>
                <a:cs typeface="맑은 고딕"/>
              </a:rPr>
              <a:t>·  OIDC 권한 축소 · Budgets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565392"/>
            <a:ext cx="11155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Aniverse  ·  프로젝트 + EKS 전환</a:t>
            </a:r>
          </a:p>
          <a:p/>
        </p:txBody>
      </p:sp>
      <p:sp>
        <p:nvSpPr>
          <p:cNvPr id="10" name="TextBox 9"/>
          <p:cNvSpPr txBox="1"/>
          <p:nvPr/>
        </p:nvSpPr>
        <p:spPr>
          <a:xfrm>
            <a:off x="10241280" y="6565392"/>
            <a:ext cx="14630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00AEEF"/>
                </a:solidFill>
                <a:latin typeface="맑은 고딕"/>
                <a:ea typeface="맑은 고딕"/>
                <a:cs typeface="맑은 고딕"/>
              </a:rPr>
              <a:t>17 /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