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F172A"/>
                </a:solidFill>
              </a:rPr>
              <a:t>Aniverse 사이트/앱 발표자료</a:t>
            </a:r>
          </a:p>
          <a:p>
            <a:pPr>
              <a:defRPr sz="1000">
                <a:solidFill>
                  <a:srgbClr val="475569"/>
                </a:solidFill>
              </a:defRPr>
            </a:pPr>
            <a:r>
              <a:t>Django · Daphne · CodeDeploy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097280"/>
            <a:ext cx="4846320" cy="23774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2563EB"/>
                </a:solidFill>
              </a:defRPr>
            </a:pPr>
            <a:r>
              <a:t>앱 핵심 구현</a:t>
            </a:r>
          </a:p>
          <a:p>
            <a:pPr>
              <a:spcAft>
                <a:spcPts val="400"/>
              </a:spcAft>
              <a:defRPr sz="1200">
                <a:solidFill>
                  <a:srgbClr val="0F172A"/>
                </a:solidFill>
              </a:defRPr>
            </a:pPr>
            <a:r>
              <a:t>Django 웹사이트 + Daphne(ASGI)</a:t>
            </a:r>
          </a:p>
          <a:p>
            <a:pPr>
              <a:spcAft>
                <a:spcPts val="400"/>
              </a:spcAft>
              <a:defRPr sz="1200">
                <a:solidFill>
                  <a:srgbClr val="0F172A"/>
                </a:solidFill>
              </a:defRPr>
            </a:pPr>
            <a:r>
              <a:t>거래 채팅 WebSocket 지원</a:t>
            </a:r>
          </a:p>
          <a:p>
            <a:pPr>
              <a:spcAft>
                <a:spcPts val="400"/>
              </a:spcAft>
              <a:defRPr sz="1200">
                <a:solidFill>
                  <a:srgbClr val="0F172A"/>
                </a:solidFill>
              </a:defRPr>
            </a:pPr>
            <a:r>
              <a:t>Gemini 기반 AI 챗봇</a:t>
            </a:r>
          </a:p>
          <a:p>
            <a:pPr>
              <a:spcAft>
                <a:spcPts val="400"/>
              </a:spcAft>
              <a:defRPr sz="1200">
                <a:solidFill>
                  <a:srgbClr val="0F172A"/>
                </a:solidFill>
              </a:defRPr>
            </a:pPr>
            <a:r>
              <a:t>CodeDeploy 자동 배포</a:t>
            </a:r>
          </a:p>
        </p:txBody>
      </p:sp>
      <p:pic>
        <p:nvPicPr>
          <p:cNvPr id="4" name="Picture 3" descr="aniverse-cicd-pip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0" y="960120"/>
            <a:ext cx="5669280" cy="37795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400800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475569"/>
                </a:solidFill>
              </a:defRPr>
            </a:pPr>
            <a:r>
              <a:t>Aniverse 사이트/앱 발표자료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F172A"/>
                </a:solidFill>
              </a:rPr>
              <a:t>1. 사용자 기능 및 런타임</a:t>
            </a:r>
          </a:p>
          <a:p>
            <a:pPr>
              <a:defRPr sz="1000">
                <a:solidFill>
                  <a:srgbClr val="475569"/>
                </a:solidFill>
              </a:defRPr>
            </a:pPr>
            <a:r>
              <a:t>웹 접속, 챗봇, 이미지, 거래 채팅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005840"/>
          <a:ext cx="530352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51760"/>
                <a:gridCol w="2651760"/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F172A"/>
                          </a:solidFill>
                        </a:defRPr>
                      </a:pPr>
                      <a:r>
                        <a:t>항목</a:t>
                      </a:r>
                    </a:p>
                  </a:txBody>
                  <a:tcPr anchor="ctr"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F172A"/>
                          </a:solidFill>
                        </a:defRPr>
                      </a:pPr>
                      <a:r>
                        <a:t>내용</a:t>
                      </a:r>
                    </a:p>
                  </a:txBody>
                  <a:tcPr anchor="ctr">
                    <a:solidFill>
                      <a:srgbClr val="DBEAF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F172A"/>
                          </a:solidFill>
                        </a:defRPr>
                      </a:pPr>
                      <a:r>
                        <a:t>웹 서버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F172A"/>
                          </a:solidFill>
                        </a:defRPr>
                      </a:pPr>
                      <a:r>
                        <a:t>nginx → Daphne → Django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F172A"/>
                          </a:solidFill>
                        </a:defRPr>
                      </a:pPr>
                      <a:r>
                        <a:t>AI 챗봇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F172A"/>
                          </a:solidFill>
                        </a:defRPr>
                      </a:pPr>
                      <a:r>
                        <a:t>Gemini 3.6 Flash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F172A"/>
                          </a:solidFill>
                        </a:defRPr>
                      </a:pPr>
                      <a:r>
                        <a:t>채팅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F172A"/>
                          </a:solidFill>
                        </a:defRPr>
                      </a:pPr>
                      <a:r>
                        <a:t>WebSocket /ws/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F172A"/>
                          </a:solidFill>
                        </a:defRPr>
                      </a:pPr>
                      <a:r>
                        <a:t>이미지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F172A"/>
                          </a:solidFill>
                        </a:defRPr>
                      </a:pPr>
                      <a:r>
                        <a:t>S3 media/static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F172A"/>
                          </a:solidFill>
                        </a:defRPr>
                      </a:pPr>
                      <a:r>
                        <a:t>배포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F172A"/>
                          </a:solidFill>
                        </a:defRPr>
                      </a:pPr>
                      <a:r>
                        <a:t>GitHub Actions + CodeDeploy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Rounded Rectangle 3"/>
          <p:cNvSpPr/>
          <p:nvPr/>
        </p:nvSpPr>
        <p:spPr>
          <a:xfrm>
            <a:off x="6400800" y="1143000"/>
            <a:ext cx="4754880" cy="24688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0D9488"/>
                </a:solidFill>
              </a:defRPr>
            </a:pPr>
            <a:r>
              <a:t>안정화 포인트</a:t>
            </a:r>
          </a:p>
          <a:p>
            <a:pPr>
              <a:spcAft>
                <a:spcPts val="400"/>
              </a:spcAft>
              <a:defRPr sz="1200">
                <a:solidFill>
                  <a:srgbClr val="0F172A"/>
                </a:solidFill>
              </a:defRPr>
            </a:pPr>
            <a:r>
              <a:t>CSRF 쿠키/Trusted Origins 수정</a:t>
            </a:r>
          </a:p>
          <a:p>
            <a:pPr>
              <a:spcAft>
                <a:spcPts val="400"/>
              </a:spcAft>
              <a:defRPr sz="1200">
                <a:solidFill>
                  <a:srgbClr val="0F172A"/>
                </a:solidFill>
              </a:defRPr>
            </a:pPr>
            <a:r>
              <a:t>Gemini API Key를 SSM으로 주입</a:t>
            </a:r>
          </a:p>
          <a:p>
            <a:pPr>
              <a:spcAft>
                <a:spcPts val="400"/>
              </a:spcAft>
              <a:defRPr sz="1200">
                <a:solidFill>
                  <a:srgbClr val="0F172A"/>
                </a:solidFill>
              </a:defRPr>
            </a:pPr>
            <a:r>
              <a:t>Broken image 시 No Image fallback 제공</a:t>
            </a:r>
          </a:p>
        </p:txBody>
      </p:sp>
      <p:pic>
        <p:nvPicPr>
          <p:cNvPr id="5" name="Picture 4" descr="aniverse-problems-solv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3840480"/>
            <a:ext cx="4846320" cy="32308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6400800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475569"/>
                </a:solidFill>
              </a:defRPr>
            </a:pPr>
            <a:r>
              <a:t>Aniverse 사이트/앱 발표자료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F172A"/>
                </a:solidFill>
              </a:rPr>
              <a:t>2. 배포 흐름과 개선 사항</a:t>
            </a:r>
          </a:p>
          <a:p>
            <a:pPr>
              <a:defRPr sz="1000">
                <a:solidFill>
                  <a:srgbClr val="475569"/>
                </a:solidFill>
              </a:defRPr>
            </a:pPr>
            <a:r>
              <a:t>앱 저장소 중심 요약</a:t>
            </a:r>
          </a:p>
        </p:txBody>
      </p:sp>
      <p:pic>
        <p:nvPicPr>
          <p:cNvPr id="3" name="Picture 2" descr="aniverse-cicd-pip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914400"/>
            <a:ext cx="6126480" cy="4084320"/>
          </a:xfrm>
          <a:prstGeom prst="rect">
            <a:avLst/>
          </a:prstGeom>
        </p:spPr>
      </p:pic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949440" y="914400"/>
          <a:ext cx="4572000" cy="374903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2286000"/>
              </a:tblGrid>
              <a:tr h="749807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F172A"/>
                          </a:solidFill>
                        </a:defRPr>
                      </a:pPr>
                      <a:r>
                        <a:t>문제</a:t>
                      </a:r>
                    </a:p>
                  </a:txBody>
                  <a:tcPr anchor="ctr"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F172A"/>
                          </a:solidFill>
                        </a:defRPr>
                      </a:pPr>
                      <a:r>
                        <a:t>개선</a:t>
                      </a:r>
                    </a:p>
                  </a:txBody>
                  <a:tcPr anchor="ctr">
                    <a:solidFill>
                      <a:srgbClr val="DBEAFE"/>
                    </a:solidFill>
                  </a:tcPr>
                </a:tc>
              </a:tr>
              <a:tr h="749807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F172A"/>
                          </a:solidFill>
                        </a:defRPr>
                      </a:pPr>
                      <a:r>
                        <a:t>챗봇 통신 실패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F172A"/>
                          </a:solidFill>
                        </a:defRPr>
                      </a:pPr>
                      <a:r>
                        <a:t>CSRF + API Key 주입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749807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F172A"/>
                          </a:solidFill>
                        </a:defRPr>
                      </a:pPr>
                      <a:r>
                        <a:t>거래 채팅 미동작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F172A"/>
                          </a:solidFill>
                        </a:defRPr>
                      </a:pPr>
                      <a:r>
                        <a:t>Daphne/ASGI 전환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  <a:tr h="749807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F172A"/>
                          </a:solidFill>
                        </a:defRPr>
                      </a:pPr>
                      <a:r>
                        <a:t>이미지 403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F172A"/>
                          </a:solidFill>
                        </a:defRPr>
                      </a:pPr>
                      <a:r>
                        <a:t>S3 정책 + sync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749807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F172A"/>
                          </a:solidFill>
                        </a:defRPr>
                      </a:pPr>
                      <a:r>
                        <a:t>DB 복원 번거로움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F172A"/>
                          </a:solidFill>
                        </a:defRPr>
                      </a:pPr>
                      <a:r>
                        <a:t>restore_db 자동화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6949440" y="4892040"/>
            <a:ext cx="4572000" cy="9144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16A34A"/>
                </a:solidFill>
              </a:defRPr>
            </a:pPr>
            <a:r>
              <a:t>한 줄 결론</a:t>
            </a:r>
          </a:p>
          <a:p>
            <a:pPr>
              <a:spcAft>
                <a:spcPts val="400"/>
              </a:spcAft>
              <a:defRPr sz="1200">
                <a:solidFill>
                  <a:srgbClr val="0F172A"/>
                </a:solidFill>
              </a:defRPr>
            </a:pPr>
            <a:r>
              <a:t>앱은 push만으로 배포되고, 장애 포인트를 대부분 자동화로 흡수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475569"/>
                </a:solidFill>
              </a:defRPr>
            </a:pPr>
            <a:r>
              <a:t>Aniverse 사이트/앱 발표자료 · 끝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