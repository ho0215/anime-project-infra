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6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05359-DFEE-4E5D-95CC-2D6CC83010C0}" v="2" dt="2026-09-23T07:19:46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1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201168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5400" b="1" dirty="0" err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  <a:endParaRPr sz="5400" b="1" dirty="0">
              <a:solidFill>
                <a:srgbClr val="2563EB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400"/>
              </a:spcBef>
            </a:pPr>
            <a:r>
              <a:rPr sz="24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</a:t>
            </a:r>
            <a:r>
              <a:rPr sz="24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서브컬처</a:t>
            </a:r>
            <a:r>
              <a:rPr sz="24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커뮤니티</a:t>
            </a:r>
            <a:r>
              <a:rPr sz="24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사이트</a:t>
            </a:r>
            <a:endParaRPr sz="2400" b="0" dirty="0">
              <a:solidFill>
                <a:srgbClr val="0F172A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200"/>
              </a:spcBef>
            </a:pPr>
            <a:r>
              <a:rPr sz="20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</a:t>
            </a:r>
            <a:r>
              <a:rPr sz="20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GitOps</a:t>
            </a:r>
            <a:r>
              <a:rPr sz="20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전환</a:t>
            </a:r>
            <a:endParaRPr sz="2000" b="0" dirty="0">
              <a:solidFill>
                <a:srgbClr val="6B7280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800"/>
              </a:spcBef>
            </a:pPr>
            <a:r>
              <a:rPr sz="1800" b="0" dirty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389120"/>
            <a:ext cx="4114800" cy="847411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pPr algn="r"/>
            <a:r>
              <a:rPr sz="1800" b="1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lang="ko-KR" altLang="en-US"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</a:t>
            </a:r>
            <a:r>
              <a:rPr lang="en-US" altLang="ko-KR"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6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박서이</a:t>
            </a:r>
            <a:r>
              <a:rPr lang="en-US" altLang="ko-KR"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김윤주</a:t>
            </a:r>
            <a:r>
              <a:rPr lang="en-US" altLang="ko-KR"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강유민</a:t>
            </a:r>
            <a:endParaRPr sz="1600" b="0" dirty="0">
              <a:solidFill>
                <a:srgbClr val="0F172A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pPr algn="ctr"/>
            <a:r>
              <a:rPr lang="en-US" sz="3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</a:t>
            </a:r>
            <a:r>
              <a:rPr lang="ko-KR" altLang="en-US" sz="3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 </a:t>
            </a:r>
            <a:r>
              <a:rPr lang="ko-KR" altLang="en-US" sz="3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정의</a:t>
            </a:r>
            <a:endParaRPr sz="3600" b="1" dirty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V1 정의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 → ALB → ASG/EC2(Nginx+Django) → RDS · EFS · S3 로 Aniverse 서비스를 운영하던 초기 클라우드 구성입니다.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방식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VPC·ALB·ASG를 구성하고, CodeDeploy / Actions로 EC2에 배포하는 방식을 사용했습니다.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200" b="1" dirty="0" err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개발</a:t>
            </a:r>
            <a:r>
              <a:rPr sz="2200" b="1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dirty="0" err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배경</a:t>
            </a:r>
            <a:endParaRPr sz="2200" b="1" dirty="0">
              <a:solidFill>
                <a:srgbClr val="2563EB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200"/>
              </a:spcBef>
            </a:pP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서브컬처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사이</a:t>
            </a:r>
            <a:r>
              <a:rPr lang="ko-KR" altLang="en-US"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트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안정적으로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서비스하기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위해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en-US"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</a:t>
            </a:r>
            <a:r>
              <a:rPr lang="ko-KR" altLang="en-US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</a:t>
            </a:r>
            <a:r>
              <a:rPr lang="ko-KR" altLang="en-US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구조에서 </a:t>
            </a:r>
            <a:r>
              <a:rPr lang="en-US" altLang="ko-KR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AWS </a:t>
            </a:r>
            <a:r>
              <a:rPr lang="ko-KR" altLang="en-US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로 이전</a:t>
            </a:r>
            <a:r>
              <a:rPr lang="en-US" altLang="ko-KR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EC2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3-tier로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구축했습니다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200" b="1" dirty="0" err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</a:t>
            </a:r>
            <a:r>
              <a:rPr sz="2200" b="1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dirty="0" err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범위</a:t>
            </a:r>
            <a:endParaRPr sz="2200" b="1" dirty="0">
              <a:solidFill>
                <a:srgbClr val="2563EB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2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HTTPS(ACM)·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WAF·Redis·미디어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S3까지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포함</a:t>
            </a:r>
            <a:r>
              <a:rPr lang="ko-KR" altLang="en-US"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하여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가능한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형태까지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구현이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완료된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상태였습니다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pPr algn="ctr"/>
            <a:r>
              <a:rPr sz="34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</a:t>
            </a:r>
            <a:r>
              <a:rPr sz="34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sz="34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 ·  V2 </a:t>
            </a:r>
            <a:r>
              <a:rPr sz="34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목표</a:t>
            </a:r>
            <a:r>
              <a:rPr sz="34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 ·  V2 </a:t>
            </a:r>
            <a:r>
              <a:rPr sz="34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차별점</a:t>
            </a:r>
            <a:endParaRPr sz="3400" b="1" dirty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361188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960120"/>
            <a:ext cx="361188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</a:t>
            </a: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기능</a:t>
            </a: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</a:t>
            </a:r>
            <a:endParaRPr sz="2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183879" y="960120"/>
            <a:ext cx="361188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1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모니터링이</a:t>
            </a:r>
            <a:r>
              <a:rPr sz="1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한눈에</a:t>
            </a:r>
            <a:r>
              <a:rPr sz="1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안 </a:t>
            </a:r>
            <a:r>
              <a:rPr sz="1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보임</a:t>
            </a:r>
            <a:endParaRPr sz="1600" b="1" dirty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000"/>
              </a:spcBef>
            </a:pP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상태가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흩어져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장애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부하를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한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화면에서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보기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어려웠습니다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수정 → 서비스 반영이 어려움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인프라·앱 변경이 EC2/에이전트에 묶여 서비스에 빠르고 일관되게 반영되기 어려웠습니다.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ASG만으로 늘렸다 줄이기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스케일이 인스턴스 단위라, 필요할 때만 줄이기 어렵고 상시 용량으로 비용이 낭비될 수 있었습니다.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1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관측을</a:t>
            </a:r>
            <a:r>
              <a:rPr sz="1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한곳에</a:t>
            </a:r>
            <a:endParaRPr sz="1600" b="1" dirty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000"/>
              </a:spcBef>
            </a:pP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Prom/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Grafana·Loki로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메트릭·로그를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모아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클러스터·앱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상태를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한눈에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봅니다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1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</a:t>
            </a:r>
            <a:r>
              <a:rPr lang="ko-KR" altLang="en-US" sz="1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하면 즉시</a:t>
            </a:r>
            <a:r>
              <a:rPr sz="1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배포</a:t>
            </a:r>
            <a:endParaRPr sz="1600" b="1" dirty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000"/>
              </a:spcBef>
            </a:pP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빌드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GitOps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(Argo)로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수정이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Synced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상태로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서비스에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반영됩니다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1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필요한</a:t>
            </a:r>
            <a:r>
              <a:rPr sz="1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만큼만</a:t>
            </a:r>
            <a:r>
              <a:rPr sz="1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스케일</a:t>
            </a:r>
            <a:endParaRPr sz="1600" b="1" dirty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000"/>
              </a:spcBef>
            </a:pP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노드·파드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단위로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스케일을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나누고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start/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stop으로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미사용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비용을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줄입니다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1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</a:t>
            </a:r>
            <a:r>
              <a:rPr sz="1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스택</a:t>
            </a:r>
            <a:endParaRPr sz="1600" b="1" dirty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000"/>
              </a:spcBef>
            </a:pP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 · Grafana ·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Loki를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기본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구성에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두고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, Alert/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Tempo로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확장합니다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1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1000"/>
              </a:spcBef>
            </a:pP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sha-*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태그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bump 후 Argo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sync로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코드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차트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변경이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선언적으로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반영됩니다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1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ASG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인스턴스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스케일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대신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EKS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파드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스케일과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PVC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DB로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낭비를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줄입니다</a:t>
            </a:r>
            <a:r>
              <a:rPr sz="16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755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pPr algn="ctr"/>
            <a:r>
              <a:rPr sz="3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</a:t>
            </a:r>
            <a:r>
              <a:rPr sz="3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정의</a:t>
            </a:r>
            <a:endParaRPr sz="3600" b="1" dirty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000" b="1" dirty="0" err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  <a:endParaRPr sz="2000" b="1" dirty="0">
              <a:solidFill>
                <a:srgbClr val="2563EB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800"/>
              </a:spcBef>
            </a:pP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Aniverse를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EKS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위에서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GitOps로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재현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가능하게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운영하고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데이터·관측·보안까지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한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사이클로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다루는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최종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아키텍처를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목표로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합니다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Ingress · HTTPS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 ISSUED 후 Ingress ALB + Route53으로 외부 진입을 구성합니다.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Django+Nginx Deployment와 MariaDB StatefulSet+PVC로 앱·DB를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 빌드, sha-* 이미지, values bump 후 Argo sync로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640580"/>
            <a:ext cx="4389120" cy="109728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r>
              <a:rPr sz="20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</a:t>
            </a:r>
            <a:r>
              <a:rPr sz="20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20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</a:t>
            </a:r>
            <a:endParaRPr sz="2000" b="1" dirty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800"/>
              </a:spcBef>
            </a:pPr>
            <a:r>
              <a:rPr sz="17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restore Job / CronJob→S3, </a:t>
            </a:r>
            <a:r>
              <a:rPr sz="17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Prom·Grafana·Loki로</a:t>
            </a:r>
            <a:r>
              <a:rPr sz="17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17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가시성을</a:t>
            </a:r>
            <a:r>
              <a:rPr sz="17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확보합니다</a:t>
            </a:r>
            <a:r>
              <a:rPr sz="17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" y="20116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755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  <a:r>
              <a:rPr lang="ko-KR" altLang="en-US" sz="3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의 강점</a:t>
            </a:r>
            <a:endParaRPr sz="3600" b="1" dirty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endParaRPr sz="18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87680" y="1847088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1800" b="1" dirty="0" err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  <a:r>
              <a:rPr sz="1800" b="1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재현</a:t>
            </a:r>
            <a:endParaRPr sz="1800" b="1" dirty="0">
              <a:solidFill>
                <a:srgbClr val="2563EB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400"/>
              </a:spcBef>
            </a:pPr>
            <a:r>
              <a:rPr sz="16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동일</a:t>
            </a:r>
            <a:r>
              <a:rPr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이미지·매니페스트로</a:t>
            </a:r>
            <a:r>
              <a:rPr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환경을</a:t>
            </a:r>
            <a:r>
              <a:rPr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올릴</a:t>
            </a:r>
            <a:r>
              <a:rPr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것   →   Actions → ECR → Argo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80" y="2578608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스케일 분리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스케일과 파드 HPA를 분리 설계   →   EKS + HPA 여지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80" y="3310128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비용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대신 학습용 영구 볼륨   →   StatefulSet + PVC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4041648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키 금지 · 이관 시 ARN 전수 교체   →   GitHub OIDC · IRSA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" y="4773168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1800" b="1" dirty="0" err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  <a:endParaRPr sz="1800" b="1" dirty="0">
              <a:solidFill>
                <a:srgbClr val="2563EB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400"/>
              </a:spcBef>
            </a:pPr>
            <a:r>
              <a:rPr sz="16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메트릭·로그를</a:t>
            </a:r>
            <a:r>
              <a:rPr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기본</a:t>
            </a:r>
            <a:r>
              <a:rPr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구성에</a:t>
            </a:r>
            <a:r>
              <a:rPr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포함</a:t>
            </a:r>
            <a:r>
              <a:rPr sz="16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  →   Prom / Grafana / Loki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pPr algn="ctr"/>
            <a:r>
              <a:rPr sz="3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</a:t>
            </a:r>
            <a:r>
              <a:rPr sz="3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3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3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sz="36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600" b="1" dirty="0" err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기준</a:t>
            </a:r>
            <a:endParaRPr sz="3600" b="1" dirty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health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Ingress/ALB 통해 HTTPS 200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/ 브라우저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시드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restore Job 후 목록 UI에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minTables + seed_rows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image.tag bump → Argo Synced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로그 + Argo UI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destroy 후 Sync media 재업로드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media/ 확인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Prom/Grafana 대시보드 조회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클러스터 메트릭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알림/트레이싱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AlertManager · Tempo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다음 단계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데이터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394960" cy="5029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200" b="1" dirty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Tech Stack</a:t>
            </a:r>
          </a:p>
          <a:p>
            <a:pPr>
              <a:spcBef>
                <a:spcPts val="10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App: Django + Nginx</a:t>
            </a:r>
          </a:p>
          <a:p>
            <a:pPr>
              <a:spcBef>
                <a:spcPts val="10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Container: Docker · Helm</a:t>
            </a:r>
          </a:p>
          <a:p>
            <a:pPr>
              <a:spcBef>
                <a:spcPts val="10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Orchestration: EKS (V2)</a:t>
            </a:r>
          </a:p>
          <a:p>
            <a:pPr>
              <a:spcBef>
                <a:spcPts val="10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DB: MariaDB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StatefulSet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+ EBS PVC</a:t>
            </a:r>
          </a:p>
          <a:p>
            <a:pPr>
              <a:spcBef>
                <a:spcPts val="10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Storage: S3 (media / static /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db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-backups)</a:t>
            </a:r>
          </a:p>
          <a:p>
            <a:pPr>
              <a:spcBef>
                <a:spcPts val="10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CI/CD: GitHub Actions · ECR · Argo CD</a:t>
            </a:r>
          </a:p>
          <a:p>
            <a:pPr>
              <a:spcBef>
                <a:spcPts val="10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Auth to AWS: GitHub OIDC</a:t>
            </a:r>
          </a:p>
          <a:p>
            <a:pPr>
              <a:spcBef>
                <a:spcPts val="10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Observability: Prometheus · Grafana · Loki</a:t>
            </a:r>
          </a:p>
          <a:p>
            <a:pPr>
              <a:spcBef>
                <a:spcPts val="10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IaC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: Terraform (anime-project-infra)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51560"/>
            <a:ext cx="5577840" cy="50292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200" b="1" dirty="0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Data Flow (V2)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Users → Route53/ACM → ALB Ingress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→ web Pod (Django) → MariaDB Pod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→ EBS PVC (글/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영구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저장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>
              <a:spcBef>
                <a:spcPts val="800"/>
              </a:spcBef>
            </a:pPr>
            <a:endParaRPr sz="1800" b="0" dirty="0">
              <a:solidFill>
                <a:srgbClr val="0F172A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800"/>
              </a:spcBef>
            </a:pP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사진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미디어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→ S3 media/ (DB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아님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>
              <a:spcBef>
                <a:spcPts val="800"/>
              </a:spcBef>
            </a:pPr>
            <a:endParaRPr sz="1800" b="0" dirty="0">
              <a:solidFill>
                <a:srgbClr val="0F172A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destroy 후: Git SQL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시드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import</a:t>
            </a:r>
          </a:p>
          <a:p>
            <a:pPr>
              <a:spcBef>
                <a:spcPts val="800"/>
              </a:spcBef>
            </a:pP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중: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CronJob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→ S3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db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-backups/</a:t>
            </a:r>
          </a:p>
          <a:p>
            <a:pPr>
              <a:spcBef>
                <a:spcPts val="800"/>
              </a:spcBef>
            </a:pPr>
            <a:endParaRPr sz="1800" b="0" dirty="0">
              <a:solidFill>
                <a:srgbClr val="0F172A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800"/>
              </a:spcBef>
            </a:pP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-stop: PVC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유지</a:t>
            </a:r>
            <a:endParaRPr sz="1800" b="0" dirty="0">
              <a:solidFill>
                <a:srgbClr val="0F172A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 destroy: PVC + S3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삭제</a:t>
            </a:r>
            <a:endParaRPr sz="1800" b="0" dirty="0">
              <a:solidFill>
                <a:srgbClr val="0F172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향후 계획  ·  3UP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Unique Up</a:t>
            </a:r>
          </a:p>
          <a:p>
            <a:pPr algn="ctr">
              <a:spcBef>
                <a:spcPts val="200"/>
              </a:spcBef>
            </a:pPr>
            <a:r>
              <a:rPr sz="160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차별성</a:t>
            </a:r>
            <a:endParaRPr sz="1600" b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관측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고도화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(Alert · Tempo/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O</a:t>
            </a:r>
            <a:r>
              <a:rPr lang="en-US"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el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9728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Complete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>
              <a:spcBef>
                <a:spcPts val="14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권한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축소</a:t>
            </a:r>
            <a:r>
              <a:rPr lang="en-US"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lang="ko-KR" altLang="en-US"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보안</a:t>
            </a:r>
            <a:r>
              <a:rPr lang="en-US" altLang="ko-KR"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800" b="0" dirty="0">
              <a:solidFill>
                <a:srgbClr val="0F172A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400"/>
              </a:spcBef>
            </a:pP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백업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덤프</a:t>
            </a:r>
            <a:r>
              <a:rPr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주기</a:t>
            </a:r>
            <a:r>
              <a:rPr lang="en-US" altLang="ko-KR"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드릴</a:t>
            </a:r>
            <a:r>
              <a:rPr lang="en-US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(DB </a:t>
            </a:r>
            <a:r>
              <a:rPr lang="ko-KR" altLang="en-US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안정성</a:t>
            </a:r>
            <a:r>
              <a:rPr lang="en-US" altLang="ko-KR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800" b="0" dirty="0">
              <a:solidFill>
                <a:srgbClr val="0F172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Performance Up</a:t>
            </a:r>
          </a:p>
          <a:p>
            <a:pPr algn="ctr">
              <a:spcBef>
                <a:spcPts val="200"/>
              </a:spcBef>
            </a:pPr>
            <a:r>
              <a:rPr sz="160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시연·운영</a:t>
            </a:r>
            <a:endParaRPr sz="1600" b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ctr"/>
          <a:lstStyle/>
          <a:p>
            <a:pPr>
              <a:spcBef>
                <a:spcPts val="1400"/>
              </a:spcBef>
            </a:pPr>
            <a:r>
              <a:rPr lang="en-US"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AIOps(self-healing, auto-remediation) </a:t>
            </a:r>
            <a:r>
              <a:rPr lang="ko-KR" altLang="en-US" sz="1800" b="0" dirty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구현</a:t>
            </a:r>
            <a:endParaRPr lang="en-US" sz="1800" b="0" dirty="0">
              <a:solidFill>
                <a:srgbClr val="0F172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901</Words>
  <Application>Microsoft Office PowerPoint</Application>
  <PresentationFormat>와이드스크린</PresentationFormat>
  <Paragraphs>143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hyunwoo kim</cp:lastModifiedBy>
  <cp:revision>4</cp:revision>
  <dcterms:created xsi:type="dcterms:W3CDTF">2013-01-27T09:14:16Z</dcterms:created>
  <dcterms:modified xsi:type="dcterms:W3CDTF">2026-09-23T07:37:00Z</dcterms:modified>
  <cp:category/>
</cp:coreProperties>
</file>