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6400800" cy="20116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4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Aniverse</a:t>
            </a:r>
          </a:p>
          <a:p>
            <a:pPr>
              <a:spcBef>
                <a:spcPts val="1400"/>
              </a:spcBef>
            </a:pPr>
            <a:r>
              <a:rPr sz="20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통합 서브컬처 커뮤니티 사이트</a:t>
            </a:r>
          </a:p>
          <a:p>
            <a:pPr>
              <a:spcBef>
                <a:spcPts val="12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Architecture V1 → V2  ·  EKS · GitOps 전환</a:t>
            </a:r>
          </a:p>
          <a:p>
            <a:pPr>
              <a:spcBef>
                <a:spcPts val="1800"/>
              </a:spcBef>
            </a:pPr>
            <a:r>
              <a:rPr sz="1400" b="0">
                <a:solidFill>
                  <a:srgbClr val="0EA5E9"/>
                </a:solidFill>
                <a:latin typeface="맑은 고딕"/>
                <a:ea typeface="맑은 고딕"/>
                <a:cs typeface="맑은 고딕"/>
              </a:rPr>
              <a:t>https://aniverse.my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4389120"/>
            <a:ext cx="4114800" cy="20116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r"/>
            <a:r>
              <a:rPr sz="1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Team</a:t>
            </a:r>
          </a:p>
          <a:p>
            <a:pPr algn="r">
              <a:spcBef>
                <a:spcPts val="6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Network / Compute   서이 등</a:t>
            </a:r>
          </a:p>
          <a:p>
            <a:pPr algn="r">
              <a:spcBef>
                <a:spcPts val="6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Container · DB · 관측   윤주</a:t>
            </a:r>
          </a:p>
          <a:p>
            <a:pPr algn="r">
              <a:spcBef>
                <a:spcPts val="6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DevOps · GitOps   현우</a:t>
            </a:r>
          </a:p>
          <a:p>
            <a:pPr algn="r">
              <a:spcBef>
                <a:spcPts val="6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App / Product   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28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V1 정의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V1 정의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User → ALB → ASG/EC2(Nginx+Django) → RDS · EFS · S3 로 Aniverse 서비스를 운영하던 초기 클라우드 구성입니다.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14300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구현 방식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Terraform으로 VPC·ALB·ASG를 구성하고, CodeDeploy / Actions로 EC2에 배포하는 방식을 사용했습니다.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79476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개발 배경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통합 서브컬처 사이트(장터·창작·커뮤니티)를 AWS에서 안정적으로 서비스하기 위해, 익숙한 EC2 기반 3-tier로 먼저 구축했습니다.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794760"/>
            <a:ext cx="5440680" cy="23774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구현 범위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HTTPS(ACM)·WAF·Redis·미디어 S3까지 포함한 운영 가능한 프로덕션 형태까지 구현이 완료된 상태였습니다.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V1의 한계  ·  V2 목표  ·  V2 차별점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3611880" cy="5029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V1의 한계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051560"/>
            <a:ext cx="3611880" cy="50292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V2의 기능 · 개발 목표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9" y="1051560"/>
            <a:ext cx="361188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V2 차별점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783080"/>
            <a:ext cx="91440" cy="1280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783080"/>
            <a:ext cx="3337560" cy="12801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모니터링이 한눈에 안 보임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메트릭·로그·배포 상태가 흩어져 있어, 장애/부하를 한 화면에서 파악하기 어려웠습니다.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3200400"/>
            <a:ext cx="91440" cy="1280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3200400"/>
            <a:ext cx="3337560" cy="12801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수정 → 서비스 반영이 어려움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인프라·앱을 바꿔도 EC2/에이전트 경로에 묶여, 변경이 서비스에 빠르게·일관되게 반영되기 어려웠습니다.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4617720"/>
            <a:ext cx="91440" cy="1280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4617720"/>
            <a:ext cx="3337560" cy="12801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ASG만으로 늘렸다 줄이기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스케일이 ASG(인스턴스) 단위에 의존해, 필요할 때만 줄이기 어렵고 상시 용량으로 비용 낭비가 생길 수 있었습니다.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783080"/>
            <a:ext cx="91440" cy="1280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1783080"/>
            <a:ext cx="3337560" cy="12801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관측을 한곳에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Prom/Grafana · Loki로 메트릭·로그를 모아, 클러스터·앱 상태를 한눈에 보는 것을 목표로 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3200400"/>
            <a:ext cx="91440" cy="1280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3200400"/>
            <a:ext cx="3337560" cy="12801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변경이 곧 배포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이미지 빌드 + GitOps(Argo)로 인프라/앱 수정이 Synced 상태로 서비스에 반영되게 합니다.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4617720"/>
            <a:ext cx="91440" cy="1280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8848" y="4617720"/>
            <a:ext cx="3337560" cy="12801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필요한 만큼만 스케일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노드·파드 단위로 스케일을 나누고, start/stop으로 미사용 구간 비용을 줄이는 구성을 목표로 합니다.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1783080"/>
            <a:ext cx="91440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5047" y="1783080"/>
            <a:ext cx="3337560" cy="12801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관측 스택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Prometheus · Grafana · Loki를 V2 기본 구성에 두고, 이후 Alert/Tempo로 확장합니다.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79" y="3200400"/>
            <a:ext cx="91440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5047" y="3200400"/>
            <a:ext cx="3337560" cy="12801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Actions → ECR → Argo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sha-* 태그 bump 후 Argo sync로, 코드/차트 변경이 클러스터에 선언적으로 반영됩니다.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79" y="4617720"/>
            <a:ext cx="91440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85047" y="4617720"/>
            <a:ext cx="3337560" cy="12801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EKS + DB Pod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ASG만의 인스턴스 스케일 대신 EKS 노드/파드 스케일과 PVC 기반 DB로 낭비를 줄입니다.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28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Architecture V2 (최종) 정의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11155680" cy="132588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비전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Aniverse를 EKS 위에서 GitOps로 재현 가능하게 운영하고, 데이터·관측·보안까지 한 사이클로 다루는 최종 아키텍처를 목표로 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60320"/>
            <a:ext cx="3657600" cy="36576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주요 기능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01752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338328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Bef>
                <a:spcPts val="400"/>
              </a:spcBef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0040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ALB Ingress · HTTPS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ACM ISSUED 후 Ingress ALB + Route53으로 외부 진입을 구성합니다.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01752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0" y="3383280"/>
            <a:ext cx="502920" cy="50292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Bef>
                <a:spcPts val="400"/>
              </a:spcBef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320040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EKS web / db Pod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Django+Nginx Deployment와 MariaDB StatefulSet+PVC로 앱·DB를 운영합니다.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57200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4937760"/>
            <a:ext cx="502920" cy="5029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Bef>
                <a:spcPts val="400"/>
              </a:spcBef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75488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Actions → ECR → Argo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OIDC 빌드, sha-* 이미지, values bump 후 Argo sync로 배포합니다.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572000"/>
            <a:ext cx="5486400" cy="1371600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493776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Bef>
                <a:spcPts val="400"/>
              </a:spcBef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4754880"/>
            <a:ext cx="4389120" cy="109728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백업 · 관측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restore Job / CronJob→S3, Prom·Grafana·Loki로 운영 가시성을 확보합니다.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28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프로젝트 · 전환이 주는 가치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280160"/>
            <a:ext cx="9966960" cy="105156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서비스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장터·창작·커뮤니티를 한곳에서 쓰는 통합 서브컬처 경험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468880"/>
            <a:ext cx="9966960" cy="105156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재현성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이미지 + GitOps로 동일 환경을 다시 올릴 수 있음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657600"/>
            <a:ext cx="9966960" cy="105156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F97316"/>
                </a:solidFill>
                <a:latin typeface="맑은 고딕"/>
                <a:ea typeface="맑은 고딕"/>
                <a:cs typeface="맑은 고딕"/>
              </a:rPr>
              <a:t>비용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EKS start/stop · DB Pod로 학습/실험 비용 통제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846320"/>
            <a:ext cx="9966960" cy="105156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2000" b="1">
                <a:solidFill>
                  <a:srgbClr val="8B5CF6"/>
                </a:solidFill>
                <a:latin typeface="맑은 고딕"/>
                <a:ea typeface="맑은 고딕"/>
                <a:cs typeface="맑은 고딕"/>
              </a:rPr>
              <a:t>운영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관측·백업·이관 체크리스트까지 운영 사이클 완성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28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전환 시나리오  ·  Local → Lab → EKS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03520" cy="5029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대상 · 맥락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웹 서비스 + 클라우드 인프라를 한 사이클로 실습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1차로 EC2 기반 V1을 완성한 뒤 EKS로 전환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윤주: Docker · Helm · DB · 관측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현우: Actions · Argo · OIDC · 이관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네트워크/컴퓨트: VPC · Ingress · 노드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097280"/>
            <a:ext cx="5669280" cy="868680"/>
          </a:xfrm>
          <a:prstGeom prst="roundRect">
            <a:avLst/>
          </a:prstGeom>
          <a:solidFill>
            <a:srgbClr val="F9FAFB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5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1.  문제 인식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배포 재현·비용·관측이 V1에서 병목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2057400"/>
            <a:ext cx="5669280" cy="868680"/>
          </a:xfrm>
          <a:prstGeom prst="roundRect">
            <a:avLst/>
          </a:prstGeom>
          <a:solidFill>
            <a:srgbClr val="F9FAFB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5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2.  Local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Docker Compose로 이미지·앱 검증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3017520"/>
            <a:ext cx="5669280" cy="868680"/>
          </a:xfrm>
          <a:prstGeom prst="roundRect">
            <a:avLst/>
          </a:prstGeom>
          <a:solidFill>
            <a:srgbClr val="F9FAFB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5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3.  Lab K8s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Helm으로 워커 노드에서 동작 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3977640"/>
            <a:ext cx="5669280" cy="868680"/>
          </a:xfrm>
          <a:prstGeom prst="roundRect">
            <a:avLst/>
          </a:prstGeom>
          <a:solidFill>
            <a:srgbClr val="F9FAFB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5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4.  EKS V2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Argo GitOps · PVC · S3 백업까지 연결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4937760"/>
            <a:ext cx="5669280" cy="868680"/>
          </a:xfrm>
          <a:prstGeom prst="roundRect">
            <a:avLst/>
          </a:prstGeom>
          <a:solidFill>
            <a:srgbClr val="F9FAFB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5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5.  검증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health 200 + 시드/목록 UI 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28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전환 요구사항  ·  왜 V2(EKS)인가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4712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구분          요청 / 문제                          반영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11247120" cy="65836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배포 재현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동일 이미지·매니페스트로 환경을 다시 올릴 것   →   Actions → ECR → Argo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77440"/>
            <a:ext cx="11247120" cy="658368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스케일 분리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노드 스케일과 파드 HPA를 분리 설계   →   EKS + HPA 여지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11247120" cy="65836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 비용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RDS 상시 대신 학습용 영구 볼륨   →   StatefulSet + PVC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840480"/>
            <a:ext cx="11247120" cy="658368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보안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장기 키 금지 · 이관 시 ARN 전수 교체   →   GitHub OIDC · IRSA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72000"/>
            <a:ext cx="11247120" cy="658368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관측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메트릭·로그를 기본 구성에 포함   →   Prom / Grafana / Loki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303520"/>
            <a:ext cx="11247120" cy="658368"/>
          </a:xfrm>
          <a:prstGeom prst="round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4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CI 초록만으로 끝내지 않음   →   health + 시드/목록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28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기능 · 운영 검증 기준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14300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웹 health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Ingress/ALB 통해 HTTPS 200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curl / 브라우저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결과: 충족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14300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DB 시드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restore Job 후 목록 UI에 데이터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minTables + seed_rows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결과: 충족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80" y="114300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GitOps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image.tag bump → Argo Synced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Actions 로그 + Argo UI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결과: 충족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361188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미디어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destroy 후 Sync media 재업로드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S3 media/ 확인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22C55E"/>
                </a:solidFill>
                <a:latin typeface="맑은 고딕"/>
                <a:ea typeface="맑은 고딕"/>
                <a:cs typeface="맑은 고딕"/>
              </a:rPr>
              <a:t>결과: 충족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61188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관측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Prom/Grafana 대시보드 조회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클러스터 메트릭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F97316"/>
                </a:solidFill>
                <a:latin typeface="맑은 고딕"/>
                <a:ea typeface="맑은 고딕"/>
                <a:cs typeface="맑은 고딕"/>
              </a:rPr>
              <a:t>결과: 구성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3611880"/>
            <a:ext cx="3703320" cy="224028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6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알림/트레이싱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검증: AlertManager · Tempo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방법: 다음 단계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F97316"/>
                </a:solidFill>
                <a:latin typeface="맑은 고딕"/>
                <a:ea typeface="맑은 고딕"/>
                <a:cs typeface="맑은 고딕"/>
              </a:rPr>
              <a:t>결과: 예정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28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기술 스택  ·  데이터 흐름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5394960" cy="50292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Tech Stack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App: Django + Nginx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Container: Docker · Helm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Orchestration: EKS (V2)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DB: MariaDB StatefulSet + EBS PVC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Storage: S3 (media / static / db-backups)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CI/CD: GitHub Actions · ECR · Argo CD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Auth to AWS: GitHub OIDC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Observability: Prometheus · Grafana · Loki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IaC: Terraform (anime-project-infra)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051560"/>
            <a:ext cx="5577840" cy="5029200"/>
          </a:xfrm>
          <a:prstGeom prst="roundRect">
            <a:avLst/>
          </a:prstGeom>
          <a:solidFill>
            <a:srgbClr val="F9FAFB"/>
          </a:solidFill>
          <a:ln w="15875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8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Data Flow (V2)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Users → Route53/ACM → ALB Ingress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→ web Pod (Django) → MariaDB Pod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→ EBS PVC (글/데이터 영구 저장)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사진/미디어 → S3 media/ (DB 아님)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destroy 후: Git SQL 시드 import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운영 중: CronJob → S3 db-backups/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eks-stop: PVC 유지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terraform destroy: PVC + S3 삭제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시스템 구성도  ·  Architecture V1</a:t>
            </a:r>
          </a:p>
        </p:txBody>
      </p:sp>
      <p:pic>
        <p:nvPicPr>
          <p:cNvPr id="4" name="Picture 3" descr="hybrid_01_arch_v1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시스템 구성도  ·  Architecture V2</a:t>
            </a:r>
          </a:p>
        </p:txBody>
      </p:sp>
      <p:pic>
        <p:nvPicPr>
          <p:cNvPr id="4" name="Picture 3" descr="hybrid_02_arch_v2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87" y="960120"/>
            <a:ext cx="9672320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lIns="146304" rIns="146304" tIns="109728" bIns="109728">
            <a:spAutoFit/>
          </a:bodyPr>
          <a:lstStyle/>
          <a:p>
            <a:pPr algn="ctr"/>
            <a:r>
              <a:rPr sz="28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향후 계획  ·  3UP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703320" cy="9144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Unique Up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차별성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94560"/>
            <a:ext cx="3703320" cy="32918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관측 고도화 (Alert · Tempo/OTel)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시드/목록 검증을 CI 게이트로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운영 런북·이관 체크리스트 표준화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097280"/>
            <a:ext cx="3703320" cy="9144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Complete Up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완성도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194560"/>
            <a:ext cx="3703320" cy="32918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Loki/Alloy EKS 반영 완료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OIDC 권한 축소 · Budgets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백업 덤프 주기·복구 드릴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097280"/>
            <a:ext cx="3703320" cy="914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Performance Up</a:t>
            </a:r>
          </a:p>
          <a:p>
            <a:pPr algn="ctr">
              <a:spcBef>
                <a:spcPts val="200"/>
              </a:spcBef>
            </a:pPr>
            <a:r>
              <a:rPr sz="1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시연·운영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194560"/>
            <a:ext cx="3703320" cy="329184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start/stop 데모 시나리오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아키텍처 V1/V2 대비 한 장 더 다듬기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 장애 재현(Missing/SSA) 데모 정리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669280"/>
            <a:ext cx="11247120" cy="685800"/>
          </a:xfrm>
          <a:prstGeom prst="roundRect">
            <a:avLst/>
          </a:prstGeom>
          <a:solidFill>
            <a:srgbClr val="F9FAFB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/>
            <a:r>
              <a:rPr sz="14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원칙: 아키텍처 확정 → 동작 확인 → 관측·보안 고도화   |   Actions 초록 ≠ 시드/목록 검증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Aniverse  ·  Architecture V1 → 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537960"/>
            <a:ext cx="1371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