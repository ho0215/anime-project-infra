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BFDBFE"/>
                </a:solidFill>
                <a:latin typeface="Malgun Gothic"/>
              </a:rPr>
              <a:t>온프레미스 3-Tier 서비스 → AWS 이전</a:t>
            </a:r>
          </a:p>
          <a:p>
            <a:pPr>
              <a:spcBef>
                <a:spcPts val="1600"/>
              </a:spcBef>
            </a:pPr>
            <a:r>
              <a:rPr sz="1600" b="0">
                <a:solidFill>
                  <a:srgbClr val="93C5FD"/>
                </a:solidFill>
                <a:latin typeface="Malgun Gothic"/>
              </a:rPr>
              <a:t>Terraform 모듈 구성 · GitHub Actions · CI/CD · HA · 보안</a:t>
            </a:r>
          </a:p>
          <a:p>
            <a:pPr>
              <a:spcBef>
                <a:spcPts val="2000"/>
              </a:spcBef>
            </a:pPr>
            <a:r>
              <a:rPr sz="1500" b="0">
                <a:solidFill>
                  <a:srgbClr val="7DD3FC"/>
                </a:solidFill>
                <a:latin typeface="Malgun Gothic"/>
              </a:rPr>
              <a:t>https://aniverse.my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88136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172A"/>
                </a:solidFill>
                <a:latin typeface="Malgun Gothic"/>
              </a:rPr>
              <a:t>01  AWS 이전하면서 맡은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88136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172A"/>
                </a:solidFill>
                <a:latin typeface="Malgun Gothic"/>
              </a:rPr>
              <a:t>02  온프레미스 운영에서 어려웠던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1088136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172A"/>
                </a:solidFill>
                <a:latin typeface="Malgun Gothic"/>
              </a:rPr>
              <a:t>03  Terraform으로 구성한 인프라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40480"/>
            <a:ext cx="1088136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172A"/>
                </a:solidFill>
                <a:latin typeface="Malgun Gothic"/>
              </a:rPr>
              <a:t>04  GitHub Actions 자동화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54880"/>
            <a:ext cx="1088136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172A"/>
                </a:solidFill>
                <a:latin typeface="Malgun Gothic"/>
              </a:rPr>
              <a:t>05  CI/CD · 고가용성 · 모니터링 · 보안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1. AWS 이전 — 맡은 역할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앱 기능 담당과 별도로, 인프라 모듈을 나눠 담당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7889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7C3AED"/>
                </a:solidFill>
                <a:latin typeface="Malgun Gothic"/>
              </a:rPr>
              <a:t>박서이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Malgun Gothic"/>
              </a:rPr>
              <a:t>Network &amp; Security</a:t>
            </a:r>
          </a:p>
          <a:p>
            <a:pPr algn="ctr"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algun Gothic"/>
              </a:rPr>
              <a:t>modules/network
security · nat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CBD5E1"/>
                </a:solidFill>
                <a:latin typeface="Malgun Gothic"/>
              </a:rPr>
              <a:t>────────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VPC / Subnet / IGW
NAT Instance
Security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097280"/>
            <a:ext cx="27889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A580C"/>
                </a:solidFill>
                <a:latin typeface="Malgun Gothic"/>
              </a:rPr>
              <a:t>강유민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Malgun Gothic"/>
              </a:rPr>
              <a:t>Compute &amp; Traffic</a:t>
            </a:r>
          </a:p>
          <a:p>
            <a:pPr algn="ctr"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algun Gothic"/>
              </a:rPr>
              <a:t>modules/alb
modules/compute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CBD5E1"/>
                </a:solidFill>
                <a:latin typeface="Malgun Gothic"/>
              </a:rPr>
              <a:t>────────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ALB / Target Group
Launch Template / ASG
user_data (Nginx·EFS)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27889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6A34A"/>
                </a:solidFill>
                <a:latin typeface="Malgun Gothic"/>
              </a:rPr>
              <a:t>김윤주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Malgun Gothic"/>
              </a:rPr>
              <a:t>Data &amp; Storage</a:t>
            </a:r>
          </a:p>
          <a:p>
            <a:pPr algn="ctr"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algun Gothic"/>
              </a:rPr>
              <a:t>modules/database
modules/storage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CBD5E1"/>
                </a:solidFill>
                <a:latin typeface="Malgun Gothic"/>
              </a:rPr>
              <a:t>────────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RDS MariaDB
EFS · S3
Remote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097280"/>
            <a:ext cx="278892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DC2626"/>
                </a:solidFill>
                <a:latin typeface="Malgun Gothic"/>
              </a:rPr>
              <a:t>김현우</a:t>
            </a:r>
          </a:p>
          <a:p>
            <a:pPr algn="ctr">
              <a:spcBef>
                <a:spcPts val="800"/>
              </a:spcBef>
            </a:pPr>
            <a:r>
              <a:rPr sz="1300" b="1">
                <a:solidFill>
                  <a:srgbClr val="0F172A"/>
                </a:solidFill>
                <a:latin typeface="Malgun Gothic"/>
              </a:rPr>
              <a:t>DevOps &amp; CI/CD</a:t>
            </a:r>
          </a:p>
          <a:p>
            <a:pPr algn="ctr">
              <a:spcBef>
                <a:spcPts val="1200"/>
              </a:spcBef>
            </a:pPr>
            <a:r>
              <a:rPr sz="1200" b="0">
                <a:solidFill>
                  <a:srgbClr val="475569"/>
                </a:solidFill>
                <a:latin typeface="Malgun Gothic"/>
              </a:rPr>
              <a:t>environments/dev
cicd · Actions</a:t>
            </a:r>
          </a:p>
          <a:p>
            <a:pPr algn="ctr">
              <a:spcBef>
                <a:spcPts val="800"/>
              </a:spcBef>
            </a:pPr>
            <a:r>
              <a:rPr sz="1100" b="0">
                <a:solidFill>
                  <a:srgbClr val="CBD5E1"/>
                </a:solidFill>
                <a:latin typeface="Malgun Gothic"/>
              </a:rPr>
              <a:t>────────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모듈 조립·Apply
CodeDeploy / SSM
HTTPS · WAF · Secrets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2. 온프레미스에서 어려웠던 점 (1)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3-Tier: Nginx · Django · NFS/MariaDB 를 서버별로 직접 운영</a:t>
            </a:r>
          </a:p>
        </p:txBody>
      </p:sp>
      <p:pic>
        <p:nvPicPr>
          <p:cNvPr id="4" name="Picture 3" descr="01_onprem_3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6429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2. 온프레미스에서 어려웠던 점 (2)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수동 운영이 만든 반복 문제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51560"/>
            <a:ext cx="566928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DC2626"/>
                </a:solidFill>
                <a:latin typeface="Malgun Gothic"/>
              </a:rPr>
              <a:t>① 배포가 전부 수작업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서버 4대에 SSH로 접속해 pull · restart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순서가 조금만 달라져도 결과가 달라짐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누가 언제 무엇을 배포했는지 기록이 남기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51560"/>
            <a:ext cx="566928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DC2626"/>
                </a:solidFill>
                <a:latin typeface="Malgun Gothic"/>
              </a:rPr>
              <a:t>② 환경 불일치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로컬에서는 되는데 서버에서만 실패하는 경우 빈번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패키지·환경변수·권한 설정이 사람 기억에 의존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원인 파악에 시간을 대부분 소모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3566160"/>
            <a:ext cx="566928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DC2626"/>
                </a:solidFill>
                <a:latin typeface="Malgun Gothic"/>
              </a:rPr>
              <a:t>③ 장애·확장 대응이 느림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트래픽 증가 시 서버를 직접 추가·설정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한 대 장애가 곧 서비스 전체 영향으로 이어짐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복구 절차가 문서화되어 있어도 재현이 어려움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566160"/>
            <a:ext cx="566928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DC2626"/>
                </a:solidFill>
                <a:latin typeface="Malgun Gothic"/>
              </a:rPr>
              <a:t>④ 보안·비밀값 관리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.env, API Key가 서버 파일에 흩어져 존재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HTTPS·방화벽 규칙을 서버마다 따로 맞춤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권한/키 교체 시 누락 위험이 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3. Terraform 인프라 구성 (1)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온프레미스 3-Tier를 AWS 서비스로 대응</a:t>
            </a:r>
          </a:p>
        </p:txBody>
      </p:sp>
      <p:pic>
        <p:nvPicPr>
          <p:cNvPr id="4" name="Picture 3" descr="02_aw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6480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3. Terraform 인프라 구성 (2)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모듈을 나눠 만들고 environments/dev 에서 조립</a:t>
            </a:r>
          </a:p>
        </p:txBody>
      </p:sp>
      <p:pic>
        <p:nvPicPr>
          <p:cNvPr id="4" name="Picture 3" descr="03_terraform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1170432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3. Terraform 인프라 구성 (3)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주요 리소스와 연결 관계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563EB"/>
                </a:solidFill>
                <a:latin typeface="Malgun Gothic"/>
              </a:rPr>
              <a:t>계층별 구성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Network: VPC · Public/Private Subnet · IGW · NAT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Security: ALB/App/DB/EFS용 Security Group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Traffic: ALB · Target Group · HTTPS Listener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Compute: Launch Template · ASG · IAM Role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Data: RDS MariaDB · EFS · S3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Ops: Secrets Manager · WAF · Redis · CodeDeploy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39496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D9488"/>
                </a:solidFill>
                <a:latin typeface="Malgun Gothic"/>
              </a:rPr>
              <a:t>조립 방식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1) 팀원이 모듈 PR로 기능 단위 작성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2) outputs.tf 로 vpc_id, sg_id 등 연결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3) environments/dev/main.tf 에서 module 호출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4) terraform plan / apply 로 한 번에 반영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/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결과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인프라가 코드로 리뷰·재현 가능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서버 ‘기억 의존’ 감소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4. GitHub Actions (1)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인프라 저장소 / 앱 저장소를 나눠 자동화</a:t>
            </a:r>
          </a:p>
        </p:txBody>
      </p:sp>
      <p:pic>
        <p:nvPicPr>
          <p:cNvPr id="4" name="Picture 3" descr="04_github_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65322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4. GitHub Actions (2)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실제로 돌아가는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669280" cy="48463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563EB"/>
                </a:solidFill>
                <a:latin typeface="Malgun Gothic"/>
              </a:rPr>
              <a:t>anime-project-infra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trigger: main push / workflow_dispatch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steps: checkout → setup TF → fmt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        validate → plan → apply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결과: VPC/ALB/ASG/RDS/S3/WAF 갱신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Secrets: AWS 자격증명, TF_VAR_*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97280"/>
            <a:ext cx="5394960" cy="48463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A580C"/>
                </a:solidFill>
                <a:latin typeface="Malgun Gothic"/>
              </a:rPr>
              <a:t>anime-project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trigger: main push / workflow_dispatch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steps: media → S3 sync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        앱 zip 패키징 → deploy S3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        CodeDeploy → ASG 배포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hooks: install → migrate → Daphne 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5. CI/CD · HA · 모니터링 · 보안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배포·가용성·관측·보안을 한 장으로</a:t>
            </a:r>
          </a:p>
        </p:txBody>
      </p:sp>
      <p:pic>
        <p:nvPicPr>
          <p:cNvPr id="4" name="Picture 3" descr="05_ops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49606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5. 적용 내용 상세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93C5FD"/>
                </a:solidFill>
                <a:latin typeface="Malgun Gothic"/>
              </a:rPr>
              <a:t>서비스가 실제로 어떻게 버티는지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566928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563EB"/>
                </a:solidFill>
                <a:latin typeface="Malgun Gothic"/>
              </a:rPr>
              <a:t>CI/CD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Actions + CodeDeploy로 배포 경로 고정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ALB /health/ 로 배포 성공 판정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실패 시 Actions·배포 로그로 추적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66928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EA580C"/>
                </a:solidFill>
                <a:latin typeface="Malgun Gothic"/>
              </a:rPr>
              <a:t>고가용성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ALB로 트래픽 분산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ASG로 인스턴스 교체·확장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App/DB 서브넷 분리 배치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566160"/>
            <a:ext cx="566928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D9488"/>
                </a:solidFill>
                <a:latin typeface="Malgun Gothic"/>
              </a:rPr>
              <a:t>모니터링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CloudWatch 알람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Target Group health 확인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SSM으로 서버 점검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566160"/>
            <a:ext cx="566928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DC2626"/>
                </a:solidFill>
                <a:latin typeface="Malgun Gothic"/>
              </a:rPr>
              <a:t>보안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SG 최소 포트 개방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Secrets Manager로 키 주입</a:t>
            </a:r>
          </a:p>
          <a:p>
            <a:pPr>
              <a:spcBef>
                <a:spcPts val="7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• ACM HTTPS + WAF(SQLi/Rate)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Malgun Gothic"/>
              </a:rPr>
              <a:t>Aniverse · 온프레미스 3-tier → AWS   |   12/12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93C5FD"/>
                </a:solidFill>
                <a:latin typeface="Malgun Gothic"/>
              </a:rPr>
              <a:t>정리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FFFFFF"/>
                </a:solidFill>
                <a:latin typeface="Malgun Gothic"/>
              </a:rPr>
              <a:t>3-Tier 수동 서버 → AWS 모듈형 인프라 + 자동 배포</a:t>
            </a:r>
          </a:p>
          <a:p>
            <a:pPr>
              <a:spcBef>
                <a:spcPts val="1600"/>
              </a:spcBef>
            </a:pPr>
            <a:r>
              <a:rPr sz="1600" b="0">
                <a:solidFill>
                  <a:srgbClr val="BFDBFE"/>
                </a:solidFill>
                <a:latin typeface="Malgun Gothic"/>
              </a:rPr>
              <a:t>서이(망) · 유민(트래픽) · 윤주(데이터) · 현우(자동화)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7DD3FC"/>
                </a:solidFill>
                <a:latin typeface="Malgun Gothic"/>
              </a:rPr>
              <a:t>https://aniverse.my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