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554480"/>
            <a:ext cx="10972800" cy="3474720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Aniverse</a:t>
            </a:r>
          </a:p>
          <a:p>
            <a:pPr>
              <a:spcBef>
                <a:spcPts val="1400"/>
              </a:spcBef>
            </a:pPr>
            <a:r>
              <a:rPr sz="2400" b="0">
                <a:solidFill>
                  <a:srgbClr val="BFDBFE"/>
                </a:solidFill>
                <a:latin typeface="맑은 고딕"/>
                <a:ea typeface="맑은 고딕"/>
                <a:cs typeface="맑은 고딕"/>
              </a:rPr>
              <a:t>온프레미스 3-Tier 서비스 → AWS 이전</a:t>
            </a:r>
          </a:p>
          <a:p>
            <a:pPr>
              <a:spcBef>
                <a:spcPts val="1600"/>
              </a:spcBef>
            </a:pPr>
            <a:r>
              <a:rPr sz="16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Terraform · Actions · CI/CD · HA · HTTPS · WAF</a:t>
            </a:r>
          </a:p>
          <a:p>
            <a:pPr>
              <a:spcBef>
                <a:spcPts val="2000"/>
              </a:spcBef>
            </a:pPr>
            <a:r>
              <a:rPr sz="1500" b="0">
                <a:solidFill>
                  <a:srgbClr val="7DD3FC"/>
                </a:solidFill>
                <a:latin typeface="맑은 고딕"/>
                <a:ea typeface="맑은 고딕"/>
                <a:cs typeface="맑은 고딕"/>
              </a:rPr>
              <a:t>https://aniverse.my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목차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005840"/>
            <a:ext cx="10881360" cy="621792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700" b="1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01  AWS 이전하면서 맡은 역할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19072"/>
            <a:ext cx="10881360" cy="621792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700" b="1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02  온프레미스 운영에서 어려웠던 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432304"/>
            <a:ext cx="10881360" cy="621792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700" b="1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03  Terraform으로 구성한 인프라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145536"/>
            <a:ext cx="10881360" cy="621792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700" b="1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04  GitHub Actions 자동화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858768"/>
            <a:ext cx="10881360" cy="621792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700" b="1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05  CI/CD · 고가용성 · 모니터링 · 보안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572000"/>
            <a:ext cx="10881360" cy="621792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700" b="1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06  HTTPS · WAF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5285232"/>
            <a:ext cx="10881360" cy="621792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700" b="1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07  사용한 AWS · GitHub 한 장 정리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2/18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1. AWS 이전 — 맡은 역할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AWS 공식 아이콘으로 담당 서비스만 빠르게 보기</a:t>
            </a:r>
          </a:p>
        </p:txBody>
      </p:sp>
      <p:pic>
        <p:nvPicPr>
          <p:cNvPr id="4" name="Picture 3" descr="09_team_ro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3960" y="868680"/>
            <a:ext cx="9753600" cy="5486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3/18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2. 온프레미스에서 어려웠던 점 (1)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3-Tier: Nginx · Django · NFS/MariaDB 를 서버별로 직접 운영</a:t>
            </a:r>
          </a:p>
        </p:txBody>
      </p:sp>
      <p:pic>
        <p:nvPicPr>
          <p:cNvPr id="4" name="Picture 3" descr="01_onprem_3ti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1005840"/>
            <a:ext cx="9509759" cy="5349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4/18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2. 온프레미스에서 어려웠던 점 (2)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수동 운영이 만든 반복 문제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0040" y="1051560"/>
            <a:ext cx="5669280" cy="23774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500" b="1">
                <a:solidFill>
                  <a:srgbClr val="DC2626"/>
                </a:solidFill>
                <a:latin typeface="맑은 고딕"/>
                <a:ea typeface="맑은 고딕"/>
                <a:cs typeface="맑은 고딕"/>
              </a:rPr>
              <a:t>① 배포가 전부 수작업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서버 4대에 SSH로 접속해 pull · restart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순서가 조금만 달라져도 결과가 달라짐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누가 언제 무엇을 배포했는지 기록이 남기 어려움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051560"/>
            <a:ext cx="5669280" cy="23774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500" b="1">
                <a:solidFill>
                  <a:srgbClr val="DC2626"/>
                </a:solidFill>
                <a:latin typeface="맑은 고딕"/>
                <a:ea typeface="맑은 고딕"/>
                <a:cs typeface="맑은 고딕"/>
              </a:rPr>
              <a:t>② 환경 불일치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로컬에서는 되는데 서버에서만 실패하는 경우 빈번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패키지·환경변수·권한 설정이 사람 기억에 의존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원인 파악에 시간을 대부분 소모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3611880"/>
            <a:ext cx="5669280" cy="23774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500" b="1">
                <a:solidFill>
                  <a:srgbClr val="DC2626"/>
                </a:solidFill>
                <a:latin typeface="맑은 고딕"/>
                <a:ea typeface="맑은 고딕"/>
                <a:cs typeface="맑은 고딕"/>
              </a:rPr>
              <a:t>③ 장애·확장 대응이 느림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트래픽 증가 시 서버를 직접 추가·설정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한 대 장애가 곧 서비스 전체 영향으로 이어짐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복구 절차가 문서화되어 있어도 재현이 어려움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3611880"/>
            <a:ext cx="5669280" cy="23774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500" b="1">
                <a:solidFill>
                  <a:srgbClr val="DC2626"/>
                </a:solidFill>
                <a:latin typeface="맑은 고딕"/>
                <a:ea typeface="맑은 고딕"/>
                <a:cs typeface="맑은 고딕"/>
              </a:rPr>
              <a:t>④ 보안·비밀값 관리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.env, API Key가 서버 파일에 흩어져 존재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HTTPS·방화벽 규칙을 서버마다 따로 맞춤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권한/키 교체 시 누락 위험이 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5/18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3. Terraform 인프라 구성 (1)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온프레미스 3-Tier를 AWS 서비스로 대응</a:t>
            </a:r>
          </a:p>
        </p:txBody>
      </p:sp>
      <p:pic>
        <p:nvPicPr>
          <p:cNvPr id="4" name="Picture 3" descr="02_aws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4539" y="960120"/>
            <a:ext cx="8092440" cy="53949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6/18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3. Terraform 인프라 구성 (2)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모듈을 나눠 만들고 environments/dev 에서 조립</a:t>
            </a:r>
          </a:p>
        </p:txBody>
      </p:sp>
      <p:pic>
        <p:nvPicPr>
          <p:cNvPr id="4" name="Picture 3" descr="03_terraform_modu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4600" y="914400"/>
            <a:ext cx="9672320" cy="5440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7/18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3. Terraform 인프라 구성 (3)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주요 리소스와 연결 관계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0040" y="1051560"/>
            <a:ext cx="5715000" cy="5074920"/>
          </a:xfrm>
          <a:prstGeom prst="roundRect">
            <a:avLst/>
          </a:prstGeom>
          <a:solidFill>
            <a:srgbClr val="EFF6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600" b="1">
                <a:solidFill>
                  <a:srgbClr val="2563EB"/>
                </a:solidFill>
                <a:latin typeface="맑은 고딕"/>
                <a:ea typeface="맑은 고딕"/>
                <a:cs typeface="맑은 고딕"/>
              </a:rPr>
              <a:t>계층별 구성</a:t>
            </a:r>
          </a:p>
          <a:p>
            <a:pPr>
              <a:spcBef>
                <a:spcPts val="7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Network: VPC · Public/Private Subnet · IGW · NAT</a:t>
            </a:r>
          </a:p>
          <a:p>
            <a:pPr>
              <a:spcBef>
                <a:spcPts val="7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Security: ALB / App / NAT / DB / EFS</a:t>
            </a:r>
          </a:p>
          <a:p>
            <a:pPr>
              <a:spcBef>
                <a:spcPts val="7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    Redis / endpoints 용 Security Group</a:t>
            </a:r>
          </a:p>
          <a:p>
            <a:pPr>
              <a:spcBef>
                <a:spcPts val="7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Traffic: ALB · Target Group · HTTPS Listener</a:t>
            </a:r>
          </a:p>
          <a:p>
            <a:pPr>
              <a:spcBef>
                <a:spcPts val="7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Compute: Launch Template · ASG · IAM Role</a:t>
            </a:r>
          </a:p>
          <a:p>
            <a:pPr>
              <a:spcBef>
                <a:spcPts val="7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Data: RDS MariaDB · EFS · S3</a:t>
            </a:r>
          </a:p>
          <a:p>
            <a:pPr>
              <a:spcBef>
                <a:spcPts val="7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Ops: Secrets Manager · WAF · Redis · CodeDeploy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051560"/>
            <a:ext cx="5577840" cy="50749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6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조립 방식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1) S3 + DynamoDB로 Remote State 환경 선구축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2) 팀원이 모듈 PR로 기능 단위 작성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3) outputs.tf 로 vpc_id, sg_id 등 연결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4) environments/dev/main.tf 에서 module 호출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5) terraform plan / apply 로 한 번에 반영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결과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인프라가 코드로 리뷰·재현 가능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서버 ‘기억 의존’ 감소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팀 전체가 충돌 없이 동시 작업 가능 (State Lock)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8/18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3. 데이터베이스·스토리지 구성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김윤주 Data &amp; Storage — RDS · EFS · S3 (AWS 공식 아이콘)</a:t>
            </a:r>
          </a:p>
        </p:txBody>
      </p:sp>
      <p:pic>
        <p:nvPicPr>
          <p:cNvPr id="4" name="Picture 3" descr="08_storage_ro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3960" y="868680"/>
            <a:ext cx="9753600" cy="5486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9/18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3. S3 · EFS · RDS — 저장 역할 정리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RDS=구조화 데이터 · EFS=공유 파일 · S3=객체/배포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0040" y="1051560"/>
            <a:ext cx="3657600" cy="50749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600" b="1">
                <a:solidFill>
                  <a:srgbClr val="16A34A"/>
                </a:solidFill>
                <a:latin typeface="맑은 고딕"/>
                <a:ea typeface="맑은 고딕"/>
                <a:cs typeface="맑은 고딕"/>
              </a:rPr>
              <a:t>RDS (MariaDB)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회원 · 로그인 계정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커뮤니티 글 · 댓글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거래 · 채팅 메타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창작물 제목·본문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관계·트랜잭션 필요 값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modules/database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Private subnet · Secrets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51960" y="1051560"/>
            <a:ext cx="3657600" cy="50749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6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EFS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EC2 media/ NFS 마운트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인스턴스 교체돼도 유지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여러 EC2가 같은 media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온프렘 NFS 대체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Nginx /media 서빙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modules/storage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ASG 공유 파일 공간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83879" y="1051560"/>
            <a:ext cx="3657600" cy="50749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600" b="1">
                <a:solidFill>
                  <a:srgbClr val="EA580C"/>
                </a:solidFill>
                <a:latin typeface="맑은 고딕"/>
                <a:ea typeface="맑은 고딕"/>
                <a:cs typeface="맑은 고딕"/>
              </a:rPr>
              <a:t>S3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업로드 이미지 원본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community / goods / works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공개 URL 제공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배포 zip 패키지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tfstate 버킷 (별도)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CORS · Lifecycle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DynamoDB State Lock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10/18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4. GitHub Actions (1)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GitHub · AWS 공식 아이콘으로 본 CI/CD Pipeline</a:t>
            </a:r>
          </a:p>
        </p:txBody>
      </p:sp>
      <p:pic>
        <p:nvPicPr>
          <p:cNvPr id="4" name="Picture 3" descr="04_github_ac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5960" y="868680"/>
            <a:ext cx="8229600" cy="5486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11/18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4. GitHub Actions (2)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실제로 돌아가는 파이프라인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0040" y="1051560"/>
            <a:ext cx="5715000" cy="5074920"/>
          </a:xfrm>
          <a:prstGeom prst="roundRect">
            <a:avLst/>
          </a:prstGeom>
          <a:solidFill>
            <a:srgbClr val="EFF6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500" b="1">
                <a:solidFill>
                  <a:srgbClr val="2563EB"/>
                </a:solidFill>
                <a:latin typeface="맑은 고딕"/>
                <a:ea typeface="맑은 고딕"/>
                <a:cs typeface="맑은 고딕"/>
              </a:rPr>
              <a:t>anime-project-infra</a:t>
            </a:r>
          </a:p>
          <a:p>
            <a:pPr>
              <a:spcBef>
                <a:spcPts val="8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trigger: main push / workflow_dispatch</a:t>
            </a:r>
          </a:p>
          <a:p>
            <a:pPr>
              <a:spcBef>
                <a:spcPts val="8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steps: checkout → setup TF → fmt</a:t>
            </a:r>
          </a:p>
          <a:p>
            <a:pPr>
              <a:spcBef>
                <a:spcPts val="8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        validate → plan → apply</a:t>
            </a:r>
          </a:p>
          <a:p>
            <a:pPr>
              <a:spcBef>
                <a:spcPts val="8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결과: VPC/ALB/ASG/RDS/S3/WAF 갱신</a:t>
            </a:r>
          </a:p>
          <a:p>
            <a:pPr>
              <a:spcBef>
                <a:spcPts val="8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Secrets: AWS 자격증명, TF_VAR_*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051560"/>
            <a:ext cx="5577840" cy="5074920"/>
          </a:xfrm>
          <a:prstGeom prst="roundRect">
            <a:avLst/>
          </a:prstGeom>
          <a:solidFill>
            <a:srgbClr val="FFF7ED"/>
          </a:solidFill>
          <a:ln w="1905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500" b="1">
                <a:solidFill>
                  <a:srgbClr val="EA580C"/>
                </a:solidFill>
                <a:latin typeface="맑은 고딕"/>
                <a:ea typeface="맑은 고딕"/>
                <a:cs typeface="맑은 고딕"/>
              </a:rPr>
              <a:t>anime-project</a:t>
            </a:r>
          </a:p>
          <a:p>
            <a:pPr>
              <a:spcBef>
                <a:spcPts val="8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trigger: main push / workflow_dispatch</a:t>
            </a:r>
          </a:p>
          <a:p>
            <a:pPr>
              <a:spcBef>
                <a:spcPts val="8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steps: media → S3 sync</a:t>
            </a:r>
          </a:p>
          <a:p>
            <a:pPr>
              <a:spcBef>
                <a:spcPts val="8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        앱 zip 패키징 → deploy S3</a:t>
            </a:r>
          </a:p>
          <a:p>
            <a:pPr>
              <a:spcBef>
                <a:spcPts val="8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        CodeDeploy → ASG 배포</a:t>
            </a:r>
          </a:p>
          <a:p>
            <a:pPr>
              <a:spcBef>
                <a:spcPts val="8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hooks: install → migrate → Daphne 기동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12/18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5. CI/CD · HA · 모니터링 · 보안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AWS·GitHub 공식 아이콘으로 한 장 요약</a:t>
            </a:r>
          </a:p>
        </p:txBody>
      </p:sp>
      <p:pic>
        <p:nvPicPr>
          <p:cNvPr id="4" name="Picture 3" descr="05_ops_secur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3960" y="868680"/>
            <a:ext cx="9753600" cy="5486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13/18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5. 적용 내용 상세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서비스가 실제로 어떻게 버티는지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0040" y="1051560"/>
            <a:ext cx="5669280" cy="24688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600" b="1">
                <a:solidFill>
                  <a:srgbClr val="2563EB"/>
                </a:solidFill>
                <a:latin typeface="맑은 고딕"/>
                <a:ea typeface="맑은 고딕"/>
                <a:cs typeface="맑은 고딕"/>
              </a:rPr>
              <a:t>CI/CD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Actions + CodeDeploy로 배포 경로 고정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ALB /health/ 로 배포 성공 판정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실패 시 Actions·배포 로그로 추적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051560"/>
            <a:ext cx="5669280" cy="24688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600" b="1">
                <a:solidFill>
                  <a:srgbClr val="EA580C"/>
                </a:solidFill>
                <a:latin typeface="맑은 고딕"/>
                <a:ea typeface="맑은 고딕"/>
                <a:cs typeface="맑은 고딕"/>
              </a:rPr>
              <a:t>고가용성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ALB로 트래픽 분산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ASG로 인스턴스 교체·확장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App/DB 서브넷 분리 배치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3657600"/>
            <a:ext cx="5669280" cy="24688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6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모니터링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CloudWatch 알람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Target Group health 확인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SSM으로 서버 점검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3657600"/>
            <a:ext cx="5669280" cy="24688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600" b="1">
                <a:solidFill>
                  <a:srgbClr val="DC2626"/>
                </a:solidFill>
                <a:latin typeface="맑은 고딕"/>
                <a:ea typeface="맑은 고딕"/>
                <a:cs typeface="맑은 고딕"/>
              </a:rPr>
              <a:t>보안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SG 최소 포트 개방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DB subnet NACL 설정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Secrets Manager로 키 주입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HTTPS(암호화) + WAF(공격 차단)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14/18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6. HTTPS · WAF (1)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Route 53 · WAF · ACM · ALB · EC2 (AWS 공식 아이콘)</a:t>
            </a:r>
          </a:p>
        </p:txBody>
      </p:sp>
      <p:pic>
        <p:nvPicPr>
          <p:cNvPr id="4" name="Picture 3" descr="06_https_wa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3960" y="868680"/>
            <a:ext cx="9753600" cy="5486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15/18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6. HTTPS · WAF (2)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용어 말고 ‘무엇을 했는지’만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0040" y="1051560"/>
            <a:ext cx="5669280" cy="5074920"/>
          </a:xfrm>
          <a:prstGeom prst="roundRect">
            <a:avLst/>
          </a:prstGeom>
          <a:solidFill>
            <a:srgbClr val="EFF6FF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HTTPS — 통신 암호화</a:t>
            </a:r>
          </a:p>
          <a:p>
            <a:pPr>
              <a:spcBef>
                <a:spcPts val="800"/>
              </a:spcBef>
            </a:pPr>
            <a:r>
              <a:rPr sz="1200" b="1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쉽게: 사이트와 사용자 사이 내용을 남이 못 보게 잠근다</a:t>
            </a:r>
          </a:p>
          <a:p>
            <a:pPr>
              <a:spcBef>
                <a:spcPts val="1000"/>
              </a:spcBef>
            </a:pPr>
            <a:r>
              <a:rPr sz="14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ACM = 인증서(자물쇠) 발급 서비스</a:t>
            </a:r>
          </a:p>
          <a:p>
            <a:pPr>
              <a:spcBef>
                <a:spcPts val="1000"/>
              </a:spcBef>
            </a:pPr>
            <a:r>
              <a:rPr sz="14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aniverse.my 용 인증서를 ALB에 붙임</a:t>
            </a:r>
          </a:p>
          <a:p>
            <a:pPr>
              <a:spcBef>
                <a:spcPts val="1000"/>
              </a:spcBef>
            </a:pPr>
            <a:r>
              <a:rPr sz="14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https(443)로 접속 받기</a:t>
            </a:r>
          </a:p>
          <a:p>
            <a:pPr>
              <a:spcBef>
                <a:spcPts val="1000"/>
              </a:spcBef>
            </a:pPr>
            <a:r>
              <a:rPr sz="14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http로 들어오면 https로 자동 이동</a:t>
            </a:r>
          </a:p>
          <a:p>
            <a:pPr>
              <a:spcBef>
                <a:spcPts val="1000"/>
              </a:spcBef>
            </a:pPr>
            <a:r>
              <a:rPr sz="14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결과: https://aniverse.my + 자물쇠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051560"/>
            <a:ext cx="5623560" cy="5074920"/>
          </a:xfrm>
          <a:prstGeom prst="roundRect">
            <a:avLst/>
          </a:prstGeom>
          <a:solidFill>
            <a:srgbClr val="FEF2F2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700" b="1">
                <a:solidFill>
                  <a:srgbClr val="DC2626"/>
                </a:solidFill>
                <a:latin typeface="맑은 고딕"/>
                <a:ea typeface="맑은 고딕"/>
                <a:cs typeface="맑은 고딕"/>
              </a:rPr>
              <a:t>WAF — 앞단 문지기</a:t>
            </a:r>
          </a:p>
          <a:p>
            <a:pPr>
              <a:spcBef>
                <a:spcPts val="800"/>
              </a:spcBef>
            </a:pPr>
            <a:r>
              <a:rPr sz="1200" b="1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쉽게: 서버 들어가기 전에 나쁜 요청을 막는다</a:t>
            </a:r>
          </a:p>
          <a:p>
            <a:pPr>
              <a:spcBef>
                <a:spcPts val="1000"/>
              </a:spcBef>
            </a:pPr>
            <a:r>
              <a:rPr sz="14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WAF = 웹 방화벽 (ALB 앞)</a:t>
            </a:r>
          </a:p>
          <a:p>
            <a:pPr>
              <a:spcBef>
                <a:spcPts val="1000"/>
              </a:spcBef>
            </a:pPr>
            <a:r>
              <a:rPr sz="14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SQL 삽입·이상한 입력 차단</a:t>
            </a:r>
          </a:p>
          <a:p>
            <a:pPr>
              <a:spcBef>
                <a:spcPts val="1000"/>
              </a:spcBef>
            </a:pPr>
            <a:r>
              <a:rPr sz="14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한 IP가 너무 자주 치면 차단</a:t>
            </a:r>
          </a:p>
          <a:p>
            <a:pPr>
              <a:spcBef>
                <a:spcPts val="1000"/>
              </a:spcBef>
            </a:pPr>
            <a:r>
              <a:rPr sz="14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통과한 요청만 EC2로 전달</a:t>
            </a:r>
          </a:p>
          <a:p>
            <a:pPr>
              <a:spcBef>
                <a:spcPts val="1000"/>
              </a:spcBef>
            </a:pPr>
            <a:r>
              <a:rPr sz="14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결과: 공격성 트래픽을 입구에서 감소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16/18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7. 사용한 AWS · GitHub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인프라 서비스와 자동화 도구를 한 장으로</a:t>
            </a:r>
          </a:p>
        </p:txBody>
      </p:sp>
      <p:pic>
        <p:nvPicPr>
          <p:cNvPr id="4" name="Picture 3" descr="07_aws_github_st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4600" y="914400"/>
            <a:ext cx="9672320" cy="5440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17/18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3657600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r>
              <a:rPr sz="2000" b="1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정리</a:t>
            </a:r>
          </a:p>
          <a:p>
            <a:pPr>
              <a:spcBef>
                <a:spcPts val="1400"/>
              </a:spcBef>
            </a:pPr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3-Tier 수동 서버 → AWS 모듈형 인프라 + 자동 배포</a:t>
            </a:r>
          </a:p>
          <a:p>
            <a:pPr>
              <a:spcBef>
                <a:spcPts val="1600"/>
              </a:spcBef>
            </a:pPr>
            <a:r>
              <a:rPr sz="1600" b="0">
                <a:solidFill>
                  <a:srgbClr val="BFDBFE"/>
                </a:solidFill>
                <a:latin typeface="맑은 고딕"/>
                <a:ea typeface="맑은 고딕"/>
                <a:cs typeface="맑은 고딕"/>
              </a:rPr>
              <a:t>서이(망) · 유민(트래픽) · 윤주(데이터) · 현우(자동화·HTTPS·WAF)</a:t>
            </a:r>
          </a:p>
          <a:p>
            <a:pPr>
              <a:spcBef>
                <a:spcPts val="1400"/>
              </a:spcBef>
            </a:pPr>
            <a:r>
              <a:rPr sz="1600" b="0">
                <a:solidFill>
                  <a:srgbClr val="7DD3FC"/>
                </a:solidFill>
                <a:latin typeface="맑은 고딕"/>
                <a:ea typeface="맑은 고딕"/>
                <a:cs typeface="맑은 고딕"/>
              </a:rPr>
              <a:t>https://aniverse.my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