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algun Gothic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BFDBFE"/>
                </a:solidFill>
                <a:latin typeface="Malgun Gothic"/>
              </a:rPr>
              <a:t>온프레미스 3-tier 서비스를 AWS로 이전한 이야기</a:t>
            </a:r>
          </a:p>
          <a:p>
            <a:pPr>
              <a:spcBef>
                <a:spcPts val="1800"/>
              </a:spcBef>
            </a:pPr>
            <a:r>
              <a:rPr sz="1600" b="0">
                <a:solidFill>
                  <a:srgbClr val="93C5FD"/>
                </a:solidFill>
                <a:latin typeface="Malgun Gothic"/>
              </a:rPr>
              <a:t>인프라 코드화 · 자동 배포 · 보안 · 운영 안정성</a:t>
            </a:r>
          </a:p>
          <a:p>
            <a:pPr>
              <a:spcBef>
                <a:spcPts val="2400"/>
              </a:spcBef>
            </a:pPr>
            <a:r>
              <a:rPr sz="1400" b="0">
                <a:solidFill>
                  <a:srgbClr val="7DD3FC"/>
                </a:solidFill>
                <a:latin typeface="Malgun Gothic"/>
              </a:rPr>
              <a:t>발표 5~7분  |  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algun Gothic"/>
              </a:rPr>
              <a:t>목차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Malgun Gothic"/>
              </a:rPr>
              <a:t>왜 중요한가: 오늘 발표가 ‘무엇을 해결했는지’ 흐름으로 따라갈 수 있게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11064240" cy="82296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01  AWS 이전, 맡은 역할 한눈에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75569"/>
                </a:solidFill>
                <a:latin typeface="Malgun Gothic"/>
              </a:rPr>
              <a:t>누가 무엇을 책임졌는지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11064240" cy="82296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02  온프레미스에서 어려웠던 점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75569"/>
                </a:solidFill>
                <a:latin typeface="Malgun Gothic"/>
              </a:rPr>
              <a:t>왜 옮겨야 했는지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63240"/>
            <a:ext cx="11064240" cy="82296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03  Terraform으로 구성한 인프라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75569"/>
                </a:solidFill>
                <a:latin typeface="Malgun Gothic"/>
              </a:rPr>
              <a:t>재현 가능한 설계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11064240" cy="82296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04  GitHub Actions 사용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75569"/>
                </a:solidFill>
                <a:latin typeface="Malgun Gothic"/>
              </a:rPr>
              <a:t>사람 손 없이 배포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983480"/>
            <a:ext cx="11064240" cy="82296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05  CI/CD · HA · 모니터링 · 보안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75569"/>
                </a:solidFill>
                <a:latin typeface="Malgun Gothic"/>
              </a:rPr>
              <a:t>서비스가 버티는 이유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Malgun Gothic"/>
              </a:rPr>
              <a:t>Aniverse · 온프레미스 3-tier → AWS   |   2/11   |   발표 5~7분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algun Gothic"/>
              </a:rPr>
              <a:t>1. AWS 이전 — 맡은 역할 한눈에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Malgun Gothic"/>
              </a:rPr>
              <a:t>왜 중요한가: 역할이 나뉘면 장애·배포 책임이 명확해진다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188720"/>
            <a:ext cx="2788920" cy="466344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7C3AED"/>
                </a:solidFill>
                <a:latin typeface="Malgun Gothic"/>
              </a:rPr>
              <a:t>박서이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Malgun Gothic"/>
              </a:rPr>
              <a:t>Network &amp; Security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475569"/>
                </a:solidFill>
                <a:latin typeface="Malgun Gothic"/>
              </a:rPr>
              <a:t>VPC · SG · NAT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CBD5E1"/>
                </a:solidFill>
                <a:latin typeface="Malgun Gothic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Malgun Gothic"/>
              </a:rPr>
              <a:t>외부/내부 망을 갈라
사고 범위를 줄임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188720"/>
            <a:ext cx="2788920" cy="466344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A580C"/>
                </a:solidFill>
                <a:latin typeface="Malgun Gothic"/>
              </a:rPr>
              <a:t>강유민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Malgun Gothic"/>
              </a:rPr>
              <a:t>Compute &amp; Traffic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475569"/>
                </a:solidFill>
                <a:latin typeface="Malgun Gothic"/>
              </a:rPr>
              <a:t>ALB · ASG · EC2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CBD5E1"/>
                </a:solidFill>
                <a:latin typeface="Malgun Gothic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Malgun Gothic"/>
              </a:rPr>
              <a:t>트래픽을 안정적으로
앱 서버에 전달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188720"/>
            <a:ext cx="2788920" cy="466344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A34A"/>
                </a:solidFill>
                <a:latin typeface="Malgun Gothic"/>
              </a:rPr>
              <a:t>김윤주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Malgun Gothic"/>
              </a:rPr>
              <a:t>Data &amp; Storage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475569"/>
                </a:solidFill>
                <a:latin typeface="Malgun Gothic"/>
              </a:rPr>
              <a:t>RDS · EFS · S3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CBD5E1"/>
                </a:solidFill>
                <a:latin typeface="Malgun Gothic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Malgun Gothic"/>
              </a:rPr>
              <a:t>데이터·파일을
안전하게 보관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188720"/>
            <a:ext cx="2788920" cy="466344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Malgun Gothic"/>
              </a:rPr>
              <a:t>김현우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Malgun Gothic"/>
              </a:rPr>
              <a:t>DevOps &amp; CI/CD</a:t>
            </a:r>
          </a:p>
          <a:p>
            <a:pPr algn="ctr">
              <a:spcBef>
                <a:spcPts val="1000"/>
              </a:spcBef>
            </a:pPr>
            <a:r>
              <a:rPr sz="1200" b="0">
                <a:solidFill>
                  <a:srgbClr val="475569"/>
                </a:solidFill>
                <a:latin typeface="Malgun Gothic"/>
              </a:rPr>
              <a:t>Terraform 조립
Actions · CodeDeploy</a:t>
            </a:r>
          </a:p>
          <a:p>
            <a:pPr algn="ctr">
              <a:spcBef>
                <a:spcPts val="1000"/>
              </a:spcBef>
            </a:pPr>
            <a:r>
              <a:rPr sz="1100" b="0">
                <a:solidFill>
                  <a:srgbClr val="CBD5E1"/>
                </a:solidFill>
                <a:latin typeface="Malgun Gothic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Malgun Gothic"/>
              </a:rPr>
              <a:t>변경이 자동으로
안전하게 반영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Malgun Gothic"/>
              </a:rPr>
              <a:t>Aniverse · 온프레미스 3-tier → AWS   |   3/11   |   발표 5~7분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algun Gothic"/>
              </a:rPr>
              <a:t>2. 온프레미스에서 어려웠던 점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Malgun Gothic"/>
              </a:rPr>
              <a:t>왜 중요한가: 같은 문제가 반복되면 서비스·학습 모두 멈춘다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5577840" cy="214884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Malgun Gothic"/>
              </a:rPr>
              <a:t>수동 배포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서버 4대에 직접 접속해
설정·재시작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475569"/>
                </a:solidFill>
                <a:latin typeface="Malgun Gothic"/>
              </a:rPr>
              <a:t>→ 청중 관점: 실수 한 번에
전체 서비스 영향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577840" cy="214884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Malgun Gothic"/>
              </a:rPr>
              <a:t>환경 불일치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내 PC OK / 서버 NG
설정이 사람 기억에 의존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475569"/>
                </a:solidFill>
                <a:latin typeface="Malgun Gothic"/>
              </a:rPr>
              <a:t>→ 청중 관점: 원인 찾기에
시간 대부분 소비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566160"/>
            <a:ext cx="5577840" cy="214884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Malgun Gothic"/>
              </a:rPr>
              <a:t>확장·복구 어려움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트래픽·장애 시
서버를 손으로 늘림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475569"/>
                </a:solidFill>
                <a:latin typeface="Malgun Gothic"/>
              </a:rPr>
              <a:t>→ 청중 관점: 밤샘 대응,
재현 불가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566160"/>
            <a:ext cx="5577840" cy="214884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Malgun Gothic"/>
              </a:rPr>
              <a:t>보안·비밀키 관리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.env / 키 파일
서버에 흩어짐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475569"/>
                </a:solidFill>
                <a:latin typeface="Malgun Gothic"/>
              </a:rPr>
              <a:t>→ 청중 관점: 유출·권한 사고
리스크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Malgun Gothic"/>
              </a:rPr>
              <a:t>Aniverse · 온프레미스 3-tier → AWS   |   4/11   |   발표 5~7분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algun Gothic"/>
              </a:rPr>
              <a:t>3. Terraform으로 구성한 인프라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Malgun Gothic"/>
              </a:rPr>
              <a:t>왜 중요한가: 코드로 남기면 ‘누가 서버를 어떻게 만들었는지’ 설명 가능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5669280" cy="4846320"/>
          </a:xfrm>
          <a:prstGeom prst="roundRect">
            <a:avLst/>
          </a:prstGeom>
          <a:solidFill>
            <a:srgbClr val="EFF6FF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563EB"/>
                </a:solidFill>
                <a:latin typeface="Malgun Gothic"/>
              </a:rPr>
              <a:t>구성 한눈에 (3-tier → AWS)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① Network: VPC · Public/Private · NAT · SG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② Traffic: ALB (+ HTTPS/ACM) · Target Group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③ Compute: ASG · EC2 (Nginx + Daphne)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④ Data: RDS MariaDB · EFS · S3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⑤ Ops: Secrets · WAF · Redis · CodeDeploy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모듈을 나눠 만들고 → environments/dev 에서 조립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143000"/>
            <a:ext cx="5394960" cy="484632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9488"/>
                </a:solidFill>
                <a:latin typeface="Malgun Gothic"/>
              </a:rPr>
              <a:t>청중에게 중요한 점</a:t>
            </a:r>
          </a:p>
          <a:p>
            <a:pPr>
              <a:spcBef>
                <a:spcPts val="7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문서가 아니라 ‘실행 가능한 설계도’</a:t>
            </a:r>
          </a:p>
          <a:p>
            <a:pPr>
              <a:spcBef>
                <a:spcPts val="7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팀원 모듈을 합쳐도 충돌을 줄임</a:t>
            </a:r>
          </a:p>
          <a:p>
            <a:pPr>
              <a:spcBef>
                <a:spcPts val="7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다시 만들어도 같은 구조가 나옴</a:t>
            </a:r>
          </a:p>
          <a:p>
            <a:pPr>
              <a:spcBef>
                <a:spcPts val="7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리뷰(PR)로 인프라 변경을 검증</a:t>
            </a:r>
          </a:p>
          <a:p>
            <a:pPr>
              <a:spcBef>
                <a:spcPts val="7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/>
            </a:r>
          </a:p>
          <a:p>
            <a:pPr>
              <a:spcBef>
                <a:spcPts val="7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결과</a:t>
            </a:r>
          </a:p>
          <a:p>
            <a:pPr>
              <a:spcBef>
                <a:spcPts val="7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서버를 ‘기억’이 아니라</a:t>
            </a:r>
          </a:p>
          <a:p>
            <a:pPr>
              <a:spcBef>
                <a:spcPts val="7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코드로 운영하게 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Malgun Gothic"/>
              </a:rPr>
              <a:t>Aniverse · 온프레미스 3-tier → AWS   |   5/11   |   발표 5~7분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algun Gothic"/>
              </a:rPr>
              <a:t>4. GitHub Actions로 한 일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Malgun Gothic"/>
              </a:rPr>
              <a:t>왜 중요한가: 버튼/접속 없이, push가 배포의 시작이 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80160"/>
            <a:ext cx="2057400" cy="155448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563EB"/>
                </a:solidFill>
                <a:latin typeface="Malgun Gothic"/>
              </a:rPr>
              <a:t>push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Malgun Gothic"/>
              </a:rPr>
              <a:t>main 반영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783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475569"/>
                </a:solidFill>
                <a:latin typeface="Malgun Gothic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80160"/>
            <a:ext cx="2057400" cy="155448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563EB"/>
                </a:solidFill>
                <a:latin typeface="Malgun Gothic"/>
              </a:rPr>
              <a:t>Checks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Malgun Gothic"/>
              </a:rPr>
              <a:t>포맷·검증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783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475569"/>
                </a:solidFill>
                <a:latin typeface="Malgun Gothic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280160"/>
            <a:ext cx="2057400" cy="155448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563EB"/>
                </a:solidFill>
                <a:latin typeface="Malgun Gothic"/>
              </a:rPr>
              <a:t>Artifact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Malgun Gothic"/>
              </a:rPr>
              <a:t>zip /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783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475569"/>
                </a:solidFill>
                <a:latin typeface="Malgun Gothic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9480" y="1280160"/>
            <a:ext cx="2057400" cy="155448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563EB"/>
                </a:solidFill>
                <a:latin typeface="Malgun Gothic"/>
              </a:rPr>
              <a:t>Deploy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Malgun Gothic"/>
              </a:rPr>
              <a:t>Apply/
CodeDeploy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783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475569"/>
                </a:solidFill>
                <a:latin typeface="Malgun 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1280160"/>
            <a:ext cx="2057400" cy="155448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563EB"/>
                </a:solidFill>
                <a:latin typeface="Malgun Gothic"/>
              </a:rPr>
              <a:t>Live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Malgun Gothic"/>
              </a:rPr>
              <a:t>aniverse.my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200400"/>
            <a:ext cx="11338560" cy="2651760"/>
          </a:xfrm>
          <a:prstGeom prst="roundRect">
            <a:avLst/>
          </a:prstGeom>
          <a:solidFill>
            <a:srgbClr val="EFF6FF"/>
          </a:solidFill>
          <a:ln w="2222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9488"/>
                </a:solidFill>
                <a:latin typeface="Malgun Gothic"/>
              </a:rPr>
              <a:t>두 갈래 자동화</a:t>
            </a:r>
          </a:p>
          <a:p>
            <a:pPr>
              <a:spcBef>
                <a:spcPts val="1000"/>
              </a:spcBef>
            </a:pPr>
            <a:r>
              <a:rPr sz="1500" b="0">
                <a:solidFill>
                  <a:srgbClr val="0F172A"/>
                </a:solidFill>
                <a:latin typeface="Malgun Gothic"/>
              </a:rPr>
              <a:t>① anime-project-infra  →  Terraform apply  (인프라)</a:t>
            </a:r>
          </a:p>
          <a:p>
            <a:pPr>
              <a:spcBef>
                <a:spcPts val="800"/>
              </a:spcBef>
            </a:pPr>
            <a:r>
              <a:rPr sz="1500" b="0">
                <a:solidFill>
                  <a:srgbClr val="0F172A"/>
                </a:solidFill>
                <a:latin typeface="Malgun Gothic"/>
              </a:rPr>
              <a:t>② anime-project        →  S3 zip → CodeDeploy  (앱)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475569"/>
                </a:solidFill>
                <a:latin typeface="Malgun Gothic"/>
              </a:rPr>
              <a:t>왜 중요한가: ‘배포 방법’이 사람마다 다르지 않고, 기록이 Actions 로그에 남는다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Malgun Gothic"/>
              </a:rPr>
              <a:t>Aniverse · 온프레미스 3-tier → AWS   |   6/11   |   발표 5~7분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algun Gothic"/>
              </a:rPr>
              <a:t>5-1. CI/CD · 고가용성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Malgun Gothic"/>
              </a:rPr>
              <a:t>왜 중요한가: 배포가 잦아도, 서비스는 멈추지 않아야 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5577840" cy="475488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563EB"/>
                </a:solidFill>
                <a:latin typeface="Malgun Gothic"/>
              </a:rPr>
              <a:t>CI/CD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Infra: plan → apply 자동화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App: CodeDeploy → ASG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/health/ 로 배포 성공 판정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실패 시 로그로 원인 추적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청중 포인트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‘누가 배포했는가’보다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‘항상 같은 방식으로 배포’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577840" cy="475488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A580C"/>
                </a:solidFill>
                <a:latin typeface="Malgun Gothic"/>
              </a:rPr>
              <a:t>고가용성 (HA)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ALB: 한 대로 트래픽 분산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ASG: 인스턴스 교체·확장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Multi-subnet 배치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EFS: 여러 EC2가 파일 공유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청중 포인트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서버 1대가 죽어도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사이트가 ‘전부 다운’되지 않음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Malgun Gothic"/>
              </a:rPr>
              <a:t>Aniverse · 온프레미스 3-tier → AWS   |   7/11   |   발표 5~7분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algun Gothic"/>
              </a:rPr>
              <a:t>5-2.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Malgun Gothic"/>
              </a:rPr>
              <a:t>왜 중요한가: 문제가 ‘늦게’ 보이면 이미 사용자 피해다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5577840" cy="475488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D9488"/>
                </a:solidFill>
                <a:latin typeface="Malgun Gothic"/>
              </a:rPr>
              <a:t>모니터링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CloudWatch 알람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ALB / Target 상태 확인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SSM으로 서버 접속·점검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배포·장애 로그 추적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청중 포인트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장애를 ‘느낌’이 아니라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지표로 먼저 알게 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577840" cy="475488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Malgun Gothic"/>
              </a:rPr>
              <a:t>보안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Security Group 최소 개방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Secrets Manager (.env 주입)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HTTPS (ACM) + WAF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• Private Subnet 앱/DB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청중 포인트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키·DB·관리포트가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0F172A"/>
                </a:solidFill>
                <a:latin typeface="Malgun Gothic"/>
              </a:rPr>
              <a:t>인터넷에 그대로 노출되지 않음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Malgun Gothic"/>
              </a:rPr>
              <a:t>Aniverse · 온프레미스 3-tier → AWS   |   8/11   |   발표 5~7분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algun Gothic"/>
              </a:rPr>
              <a:t>결과 — 무엇이 달라졌나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Malgun Gothic"/>
              </a:rPr>
              <a:t>왜 중요한가: 이전 전/후를 한 장으로 비교하면 설득력이 생긴다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34440"/>
            <a:ext cx="5486400" cy="4480560"/>
          </a:xfrm>
          <a:prstGeom prst="roundRect">
            <a:avLst/>
          </a:prstGeom>
          <a:solidFill>
            <a:srgbClr val="FEF2F2"/>
          </a:solidFill>
          <a:ln w="222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Malgun Gothic"/>
              </a:rPr>
              <a:t>Before (온프레미스)</a:t>
            </a:r>
          </a:p>
          <a:p>
            <a:pPr>
              <a:spcBef>
                <a:spcPts val="1000"/>
              </a:spcBef>
            </a:pPr>
            <a:r>
              <a:rPr sz="1500" b="0">
                <a:solidFill>
                  <a:srgbClr val="0F172A"/>
                </a:solidFill>
                <a:latin typeface="Malgun Gothic"/>
              </a:rPr>
              <a:t>• 서버 4대 수동 운영</a:t>
            </a:r>
          </a:p>
          <a:p>
            <a:pPr>
              <a:spcBef>
                <a:spcPts val="1000"/>
              </a:spcBef>
            </a:pPr>
            <a:r>
              <a:rPr sz="1500" b="0">
                <a:solidFill>
                  <a:srgbClr val="0F172A"/>
                </a:solidFill>
                <a:latin typeface="Malgun Gothic"/>
              </a:rPr>
              <a:t>• 배포 = SSH + 기억</a:t>
            </a:r>
          </a:p>
          <a:p>
            <a:pPr>
              <a:spcBef>
                <a:spcPts val="1000"/>
              </a:spcBef>
            </a:pPr>
            <a:r>
              <a:rPr sz="1500" b="0">
                <a:solidFill>
                  <a:srgbClr val="0F172A"/>
                </a:solidFill>
                <a:latin typeface="Malgun Gothic"/>
              </a:rPr>
              <a:t>• 장애 = 사람 의존</a:t>
            </a:r>
          </a:p>
          <a:p>
            <a:pPr>
              <a:spcBef>
                <a:spcPts val="1000"/>
              </a:spcBef>
            </a:pPr>
            <a:r>
              <a:rPr sz="1500" b="0">
                <a:solidFill>
                  <a:srgbClr val="0F172A"/>
                </a:solidFill>
                <a:latin typeface="Malgun Gothic"/>
              </a:rPr>
              <a:t>• 설정 공유 어려움</a:t>
            </a:r>
          </a:p>
          <a:p>
            <a:pPr>
              <a:spcBef>
                <a:spcPts val="1000"/>
              </a:spcBef>
            </a:pPr>
            <a:r>
              <a:rPr sz="1500" b="0">
                <a:solidFill>
                  <a:srgbClr val="0F172A"/>
                </a:solidFill>
                <a:latin typeface="Malgun Gothic"/>
              </a:rPr>
              <a:t>• HTTPS/WAF 약함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34440"/>
            <a:ext cx="5486400" cy="4480560"/>
          </a:xfrm>
          <a:prstGeom prst="roundRect">
            <a:avLst/>
          </a:prstGeom>
          <a:solidFill>
            <a:srgbClr val="DCFCE7"/>
          </a:solidFill>
          <a:ln w="222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A34A"/>
                </a:solidFill>
                <a:latin typeface="Malgun Gothic"/>
              </a:rPr>
              <a:t>After (AWS)</a:t>
            </a:r>
          </a:p>
          <a:p>
            <a:pPr>
              <a:spcBef>
                <a:spcPts val="1000"/>
              </a:spcBef>
            </a:pPr>
            <a:r>
              <a:rPr sz="1500" b="0">
                <a:solidFill>
                  <a:srgbClr val="0F172A"/>
                </a:solidFill>
                <a:latin typeface="Malgun Gothic"/>
              </a:rPr>
              <a:t>• 관리형 서비스 + ASG</a:t>
            </a:r>
          </a:p>
          <a:p>
            <a:pPr>
              <a:spcBef>
                <a:spcPts val="1000"/>
              </a:spcBef>
            </a:pPr>
            <a:r>
              <a:rPr sz="1500" b="0">
                <a:solidFill>
                  <a:srgbClr val="0F172A"/>
                </a:solidFill>
                <a:latin typeface="Malgun Gothic"/>
              </a:rPr>
              <a:t>• push → 자동 배포</a:t>
            </a:r>
          </a:p>
          <a:p>
            <a:pPr>
              <a:spcBef>
                <a:spcPts val="1000"/>
              </a:spcBef>
            </a:pPr>
            <a:r>
              <a:rPr sz="1500" b="0">
                <a:solidFill>
                  <a:srgbClr val="0F172A"/>
                </a:solidFill>
                <a:latin typeface="Malgun Gothic"/>
              </a:rPr>
              <a:t>• 헬스체크·알람으로 감지</a:t>
            </a:r>
          </a:p>
          <a:p>
            <a:pPr>
              <a:spcBef>
                <a:spcPts val="1000"/>
              </a:spcBef>
            </a:pPr>
            <a:r>
              <a:rPr sz="1500" b="0">
                <a:solidFill>
                  <a:srgbClr val="0F172A"/>
                </a:solidFill>
                <a:latin typeface="Malgun Gothic"/>
              </a:rPr>
              <a:t>• Terraform으로 재현</a:t>
            </a:r>
          </a:p>
          <a:p>
            <a:pPr>
              <a:spcBef>
                <a:spcPts val="1000"/>
              </a:spcBef>
            </a:pPr>
            <a:r>
              <a:rPr sz="1500" b="0">
                <a:solidFill>
                  <a:srgbClr val="0F172A"/>
                </a:solidFill>
                <a:latin typeface="Malgun Gothic"/>
              </a:rPr>
              <a:t>• HTTPS · WAF · Secrets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Malgun Gothic"/>
              </a:rPr>
              <a:t>Aniverse · 온프레미스 3-tier → AWS   |   9/11   |   발표 5~7분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Malgun Gothic"/>
              </a:rPr>
              <a:t>한 줄 결론</a:t>
            </a:r>
          </a:p>
          <a:p>
            <a:pPr>
              <a:spcBef>
                <a:spcPts val="1600"/>
              </a:spcBef>
            </a:pPr>
            <a:r>
              <a:rPr sz="2400" b="1">
                <a:solidFill>
                  <a:srgbClr val="FFFFFF"/>
                </a:solidFill>
                <a:latin typeface="Malgun Gothic"/>
              </a:rPr>
              <a:t>서버를 ‘손으로 지키는 일’에서</a:t>
            </a:r>
          </a:p>
          <a:p>
            <a:pPr>
              <a:spcBef>
                <a:spcPts val="800"/>
              </a:spcBef>
            </a:pPr>
            <a:r>
              <a:rPr sz="2400" b="1">
                <a:solidFill>
                  <a:srgbClr val="FFFFFF"/>
                </a:solidFill>
                <a:latin typeface="Malgun Gothic"/>
              </a:rPr>
              <a:t>코드와 파이프라인으로 운영하는 일로 바꿨습니다.</a:t>
            </a:r>
          </a:p>
          <a:p>
            <a:pPr>
              <a:spcBef>
                <a:spcPts val="1800"/>
              </a:spcBef>
            </a:pPr>
            <a:r>
              <a:rPr sz="1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BFDBFE"/>
                </a:solidFill>
                <a:latin typeface="Malgun Gothic"/>
              </a:rPr>
              <a:t>서이·유민·윤주·현우가 역할을 나눠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BFDBFE"/>
                </a:solidFill>
                <a:latin typeface="Malgun Gothic"/>
              </a:rPr>
              <a:t>망 / 트래픽 / 데이터 / 자동화를 책임졌고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7DD3FC"/>
                </a:solidFill>
                <a:latin typeface="Malgun Gothic"/>
              </a:rPr>
              <a:t>지금은 https://aniverse.my 로 서비스 중입니다.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